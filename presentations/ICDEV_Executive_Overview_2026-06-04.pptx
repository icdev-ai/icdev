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short acts. We'll spend the most time in Act 3, the use cases.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GAO high-risk list. These numbers are consistent across the last decade. Even the best federal program offices live with this. The question is not whether to fix it — it's how.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one of these forces is real and necessary. The problem is not that the work exists — the problem is that it lives in 12 different tools, owned by 12 different teams, and never comes together until the audit. ICDEV's bet is that all four of these are actually the same work viewed from four angles.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here. ICDEV is not a single product. It is a system of systems. Twenty design canvases for engineers. Fifteen agents that talk to each other. Thirty-one reflexes running 24/7 in the background. And all of it on one stack.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domains, one platform. Every canvas, every agent, every reflex is wired into the same data layer. That's the difference between a tool and a system.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use case capture managers feel first. The GovCon canvas does the reading, the drafting, and the compliance-mapping in parallel. Your team reviews and decides — not types.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use case ISSOs and AOs feel first. The compliance canvas turns SSP generation from a 90-day manual slog into a same-day pull. And once the ATO is granted, cATO monitoring keeps it that way — every six hours.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use case PMs feel first. The CPMP canvas turns the contract from a static document into a live dashboard. EVM auto-updates. CPARS auto-predicts. CDRLs auto-generate. CORs get answers in 30 seconds, not 3 days.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demo slide. Flip to the live dashboard. Every screen behind me is a real product — not a mock-up. I'll pause here for questions before we go deeper.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things no one else has. Read them slowly. Compliance-as-generator is the most important — it's why a 18-month ATO can become a 60-day ATO. Air-gap native is the second most important — it's why ICDEV works in classified environments where the cloud tools can't go.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engine under the hood. The Genesis daemon is what makes ICDEV different from every other compliance tool. It's not a dashboard you log into. It's a system that watches itself 24/7 and fixes problems before they become incidents.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you're an ISSO, an AO, or a COR, this is the slide for you. Every framework you need to be in compliance with, ICDEV is already in compliance with. The audit trail is append-only — meaning it cannot be modified after the fact. That's the federal standard.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the one that fits your timeline. A demo is 30 minutes and free. A pilot is 60 days and fixed scope. A full deployment is whatever your environment needs.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mission. Federal software delivery doesn't have to be slow, expensive, or risky. ICDEV is the system that builds the systems. Book a demo. We'll show you on your 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88952" cy="9144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0"/>
            <a:ext cx="11183112" cy="1828800"/>
          </a:xfrm>
          <a:prstGeom prst="rect">
            <a:avLst/>
          </a:prstGeom>
          <a:noFill/>
        </p:spPr>
        <p:txBody>
          <a:bodyPr wrap="square">
            <a:spAutoFit/>
          </a:bodyPr>
          <a:lstStyle/>
          <a:p>
            <a:pPr algn="ctr"/>
            <a:r>
              <a:rPr sz="4400" b="1" i="0">
                <a:solidFill>
                  <a:srgbClr val="C8A951"/>
                </a:solidFill>
              </a:rPr>
              <a:t>ICDEV™: The System That Builds Systems</a:t>
            </a:r>
          </a:p>
        </p:txBody>
      </p:sp>
      <p:sp>
        <p:nvSpPr>
          <p:cNvPr id="5" name="Rectangle 4"/>
          <p:cNvSpPr/>
          <p:nvPr/>
        </p:nvSpPr>
        <p:spPr>
          <a:xfrm>
            <a:off x="3474720" y="2926080"/>
            <a:ext cx="5239512" cy="27432"/>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3063240"/>
            <a:ext cx="11183112" cy="457200"/>
          </a:xfrm>
          <a:prstGeom prst="rect">
            <a:avLst/>
          </a:prstGeom>
          <a:noFill/>
        </p:spPr>
        <p:txBody>
          <a:bodyPr wrap="square">
            <a:spAutoFit/>
          </a:bodyPr>
          <a:lstStyle/>
          <a:p>
            <a:pPr algn="ctr"/>
            <a:r>
              <a:rPr sz="1400" b="0" i="0">
                <a:solidFill>
                  <a:srgbClr val="FFFFFF"/>
                </a:solidFill>
              </a:rPr>
              <a:t>ICDEV™  ·  A System That Builds Systems</a:t>
            </a:r>
          </a:p>
        </p:txBody>
      </p:sp>
      <p:sp>
        <p:nvSpPr>
          <p:cNvPr id="7" name="TextBox 6"/>
          <p:cNvSpPr txBox="1"/>
          <p:nvPr/>
        </p:nvSpPr>
        <p:spPr>
          <a:xfrm>
            <a:off x="502920" y="3566160"/>
            <a:ext cx="11183112" cy="365760"/>
          </a:xfrm>
          <a:prstGeom prst="rect">
            <a:avLst/>
          </a:prstGeom>
          <a:noFill/>
        </p:spPr>
        <p:txBody>
          <a:bodyPr wrap="square">
            <a:spAutoFit/>
          </a:bodyPr>
          <a:lstStyle/>
          <a:p>
            <a:pPr algn="ctr"/>
            <a:r>
              <a:rPr sz="1200" b="0" i="1">
                <a:solidFill>
                  <a:srgbClr val="E0E6F0"/>
                </a:solidFill>
              </a:rPr>
              <a:t>Open with the framing: ICDEV is not a single tool. It is a system that builds systems — software, co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65836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109728"/>
            <a:ext cx="11183112" cy="502920"/>
          </a:xfrm>
          <a:prstGeom prst="rect">
            <a:avLst/>
          </a:prstGeom>
          <a:noFill/>
        </p:spPr>
        <p:txBody>
          <a:bodyPr wrap="square">
            <a:spAutoFit/>
          </a:bodyPr>
          <a:lstStyle/>
          <a:p>
            <a:pPr algn="l"/>
            <a:r>
              <a:rPr sz="2200" b="1" i="0">
                <a:solidFill>
                  <a:srgbClr val="C8A951"/>
                </a:solidFill>
              </a:rPr>
              <a:t>Agenda: Three Acts</a:t>
            </a:r>
          </a:p>
        </p:txBody>
      </p:sp>
      <p:sp>
        <p:nvSpPr>
          <p:cNvPr id="5" name="Rectangle 4"/>
          <p:cNvSpPr/>
          <p:nvPr/>
        </p:nvSpPr>
        <p:spPr>
          <a:xfrm>
            <a:off x="502920" y="658368"/>
            <a:ext cx="11183112" cy="36576"/>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9456" y="777240"/>
            <a:ext cx="11183112" cy="5120640"/>
          </a:xfrm>
          <a:prstGeom prst="rect">
            <a:avLst/>
          </a:prstGeom>
          <a:noFill/>
        </p:spPr>
        <p:txBody>
          <a:bodyPr wrap="square">
            <a:spAutoFit/>
          </a:bodyPr>
          <a:lstStyle/>
          <a:p>
            <a:pPr algn="l">
              <a:spcBef>
                <a:spcPts val="0"/>
              </a:spcBef>
            </a:pPr>
            <a:r>
              <a:rPr sz="1600">
                <a:solidFill>
                  <a:srgbClr val="FFFFFF"/>
                </a:solidFill>
              </a:rPr>
              <a:t>▸  1. Why government software delivery is broken — the four forces driving the pain</a:t>
            </a:r>
          </a:p>
          <a:p>
            <a:pPr algn="l">
              <a:spcBef>
                <a:spcPts val="600"/>
              </a:spcBef>
            </a:pPr>
            <a:r>
              <a:rPr sz="1600">
                <a:solidFill>
                  <a:srgbClr val="E0E6F0"/>
                </a:solidFill>
              </a:rPr>
              <a:t>▸  2. What ICDEV™ does about it — the platform, the agents, the reflexes</a:t>
            </a:r>
          </a:p>
          <a:p>
            <a:pPr algn="l">
              <a:spcBef>
                <a:spcPts val="600"/>
              </a:spcBef>
            </a:pPr>
            <a:r>
              <a:rPr sz="1600">
                <a:solidFill>
                  <a:srgbClr val="E0E6F0"/>
                </a:solidFill>
              </a:rPr>
              <a:t>▸  3. Three use cases that change the math — Proposals, ATO, Program Management</a:t>
            </a:r>
          </a:p>
        </p:txBody>
      </p:sp>
      <p:sp>
        <p:nvSpPr>
          <p:cNvPr id="7" name="TextBox 6"/>
          <p:cNvSpPr txBox="1"/>
          <p:nvPr/>
        </p:nvSpPr>
        <p:spPr>
          <a:xfrm>
            <a:off x="502920" y="6565392"/>
            <a:ext cx="10634472" cy="256032"/>
          </a:xfrm>
          <a:prstGeom prst="rect">
            <a:avLst/>
          </a:prstGeom>
          <a:noFill/>
        </p:spPr>
        <p:txBody>
          <a:bodyPr wrap="square">
            <a:spAutoFit/>
          </a:bodyPr>
          <a:lstStyle/>
          <a:p>
            <a:pPr algn="l"/>
            <a:r>
              <a:rPr sz="800" b="0" i="0">
                <a:solidFill>
                  <a:srgbClr val="1E3A5F"/>
                </a:solidFill>
              </a:rPr>
              <a:t>ICDEV™  ·  A System That Builds Systems</a:t>
            </a:r>
          </a:p>
        </p:txBody>
      </p:sp>
      <p:sp>
        <p:nvSpPr>
          <p:cNvPr id="8" name="TextBox 7"/>
          <p:cNvSpPr txBox="1"/>
          <p:nvPr/>
        </p:nvSpPr>
        <p:spPr>
          <a:xfrm>
            <a:off x="11457432" y="6565392"/>
            <a:ext cx="640080" cy="256032"/>
          </a:xfrm>
          <a:prstGeom prst="rect">
            <a:avLst/>
          </a:prstGeom>
          <a:noFill/>
        </p:spPr>
        <p:txBody>
          <a:bodyPr wrap="square">
            <a:spAutoFit/>
          </a:bodyPr>
          <a:lstStyle/>
          <a:p>
            <a:pPr algn="r"/>
            <a:r>
              <a:rPr sz="900" b="0" i="0">
                <a:solidFill>
                  <a:srgbClr val="1E3A5F"/>
                </a:solidFil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65836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109728"/>
            <a:ext cx="11183112" cy="502920"/>
          </a:xfrm>
          <a:prstGeom prst="rect">
            <a:avLst/>
          </a:prstGeom>
          <a:noFill/>
        </p:spPr>
        <p:txBody>
          <a:bodyPr wrap="square">
            <a:spAutoFit/>
          </a:bodyPr>
          <a:lstStyle/>
          <a:p>
            <a:pPr algn="l"/>
            <a:r>
              <a:rPr sz="2200" b="1" i="0">
                <a:solidFill>
                  <a:srgbClr val="C8A951"/>
                </a:solidFill>
              </a:rPr>
              <a:t>Government Software Delivery Is Broken</a:t>
            </a:r>
          </a:p>
        </p:txBody>
      </p:sp>
      <p:sp>
        <p:nvSpPr>
          <p:cNvPr id="5" name="Rectangle 4"/>
          <p:cNvSpPr/>
          <p:nvPr/>
        </p:nvSpPr>
        <p:spPr>
          <a:xfrm>
            <a:off x="502920" y="658368"/>
            <a:ext cx="11183112" cy="36576"/>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9456" y="777240"/>
            <a:ext cx="11183112" cy="5120640"/>
          </a:xfrm>
          <a:prstGeom prst="rect">
            <a:avLst/>
          </a:prstGeom>
          <a:noFill/>
        </p:spPr>
        <p:txBody>
          <a:bodyPr wrap="square">
            <a:spAutoFit/>
          </a:bodyPr>
          <a:lstStyle/>
          <a:p>
            <a:pPr algn="l">
              <a:spcBef>
                <a:spcPts val="0"/>
              </a:spcBef>
            </a:pPr>
            <a:r>
              <a:rPr sz="1600">
                <a:solidFill>
                  <a:srgbClr val="FFFFFF"/>
                </a:solidFill>
              </a:rPr>
              <a:t>▸  2x — Federal IT projects run two times over budget on average</a:t>
            </a:r>
          </a:p>
          <a:p>
            <a:pPr algn="l">
              <a:spcBef>
                <a:spcPts val="600"/>
              </a:spcBef>
            </a:pPr>
            <a:r>
              <a:rPr sz="1600">
                <a:solidFill>
                  <a:srgbClr val="E0E6F0"/>
                </a:solidFill>
              </a:rPr>
              <a:t>▸  33% — Average schedule slip on large federal IT programs</a:t>
            </a:r>
          </a:p>
          <a:p>
            <a:pPr algn="l">
              <a:spcBef>
                <a:spcPts val="600"/>
              </a:spcBef>
            </a:pPr>
            <a:r>
              <a:rPr sz="1600">
                <a:solidFill>
                  <a:srgbClr val="E0E6F0"/>
                </a:solidFill>
              </a:rPr>
              <a:t>▸  12–18 months — Typical ATO (Authority To Operate) timeline before a system can go live</a:t>
            </a:r>
          </a:p>
          <a:p>
            <a:pPr algn="l">
              <a:spcBef>
                <a:spcPts val="600"/>
              </a:spcBef>
            </a:pPr>
            <a:r>
              <a:rPr sz="1600">
                <a:solidFill>
                  <a:srgbClr val="E0E6F0"/>
                </a:solidFill>
              </a:rPr>
              <a:t>▸  70% — Share of large federal IT programs that fail to meet original goals</a:t>
            </a:r>
          </a:p>
        </p:txBody>
      </p:sp>
      <p:sp>
        <p:nvSpPr>
          <p:cNvPr id="7" name="TextBox 6"/>
          <p:cNvSpPr txBox="1"/>
          <p:nvPr/>
        </p:nvSpPr>
        <p:spPr>
          <a:xfrm>
            <a:off x="502920" y="6565392"/>
            <a:ext cx="10634472" cy="256032"/>
          </a:xfrm>
          <a:prstGeom prst="rect">
            <a:avLst/>
          </a:prstGeom>
          <a:noFill/>
        </p:spPr>
        <p:txBody>
          <a:bodyPr wrap="square">
            <a:spAutoFit/>
          </a:bodyPr>
          <a:lstStyle/>
          <a:p>
            <a:pPr algn="l"/>
            <a:r>
              <a:rPr sz="800" b="0" i="0">
                <a:solidFill>
                  <a:srgbClr val="1E3A5F"/>
                </a:solidFill>
              </a:rPr>
              <a:t>ICDEV™  ·  A System That Builds Systems</a:t>
            </a:r>
          </a:p>
        </p:txBody>
      </p:sp>
      <p:sp>
        <p:nvSpPr>
          <p:cNvPr id="8" name="TextBox 7"/>
          <p:cNvSpPr txBox="1"/>
          <p:nvPr/>
        </p:nvSpPr>
        <p:spPr>
          <a:xfrm>
            <a:off x="11457432" y="6565392"/>
            <a:ext cx="640080" cy="256032"/>
          </a:xfrm>
          <a:prstGeom prst="rect">
            <a:avLst/>
          </a:prstGeom>
          <a:noFill/>
        </p:spPr>
        <p:txBody>
          <a:bodyPr wrap="square">
            <a:spAutoFit/>
          </a:bodyPr>
          <a:lstStyle/>
          <a:p>
            <a:pPr algn="r"/>
            <a:r>
              <a:rPr sz="900" b="0" i="0">
                <a:solidFill>
                  <a:srgbClr val="1E3A5F"/>
                </a:solidFil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65836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109728"/>
            <a:ext cx="11183112" cy="502920"/>
          </a:xfrm>
          <a:prstGeom prst="rect">
            <a:avLst/>
          </a:prstGeom>
          <a:noFill/>
        </p:spPr>
        <p:txBody>
          <a:bodyPr wrap="square">
            <a:spAutoFit/>
          </a:bodyPr>
          <a:lstStyle/>
          <a:p>
            <a:pPr algn="l"/>
            <a:r>
              <a:rPr sz="2200" b="1" i="0">
                <a:solidFill>
                  <a:srgbClr val="C8A951"/>
                </a:solidFill>
              </a:rPr>
              <a:t>Four Forces Driving the Pain</a:t>
            </a:r>
          </a:p>
        </p:txBody>
      </p:sp>
      <p:sp>
        <p:nvSpPr>
          <p:cNvPr id="5" name="Rectangle 4"/>
          <p:cNvSpPr/>
          <p:nvPr/>
        </p:nvSpPr>
        <p:spPr>
          <a:xfrm>
            <a:off x="502920" y="658368"/>
            <a:ext cx="11183112" cy="36576"/>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9456" y="777240"/>
            <a:ext cx="11183112" cy="5120640"/>
          </a:xfrm>
          <a:prstGeom prst="rect">
            <a:avLst/>
          </a:prstGeom>
          <a:noFill/>
        </p:spPr>
        <p:txBody>
          <a:bodyPr wrap="square">
            <a:spAutoFit/>
          </a:bodyPr>
          <a:lstStyle/>
          <a:p>
            <a:pPr algn="l">
              <a:spcBef>
                <a:spcPts val="0"/>
              </a:spcBef>
            </a:pPr>
            <a:r>
              <a:rPr sz="1600">
                <a:solidFill>
                  <a:srgbClr val="FFFFFF"/>
                </a:solidFill>
              </a:rPr>
              <a:t>▸  Compliance Tax — ATO, FedRAMP, CMMC, STIGs, SBOM live in siloed tools</a:t>
            </a:r>
          </a:p>
          <a:p>
            <a:pPr algn="l">
              <a:spcBef>
                <a:spcPts val="600"/>
              </a:spcBef>
            </a:pPr>
            <a:r>
              <a:rPr sz="1600">
                <a:solidFill>
                  <a:srgbClr val="E0E6F0"/>
                </a:solidFill>
              </a:rPr>
              <a:t>▸  Capture Tax — 200-page proposals assembled manually under deadline pressure</a:t>
            </a:r>
          </a:p>
          <a:p>
            <a:pPr algn="l">
              <a:spcBef>
                <a:spcPts val="600"/>
              </a:spcBef>
            </a:pPr>
            <a:r>
              <a:rPr sz="1600">
                <a:solidFill>
                  <a:srgbClr val="E0E6F0"/>
                </a:solidFill>
              </a:rPr>
              <a:t>▸  Program Tax — EVM, CPARS, CDRLs still tracked on spreadsheets</a:t>
            </a:r>
          </a:p>
          <a:p>
            <a:pPr algn="l">
              <a:spcBef>
                <a:spcPts val="600"/>
              </a:spcBef>
            </a:pPr>
            <a:r>
              <a:rPr sz="1600">
                <a:solidFill>
                  <a:srgbClr val="E0E6F0"/>
                </a:solidFill>
              </a:rPr>
              <a:t>▸  Security Tax — zero-trust and SBOM treated as checkboxes, not engineering</a:t>
            </a:r>
          </a:p>
        </p:txBody>
      </p:sp>
      <p:sp>
        <p:nvSpPr>
          <p:cNvPr id="7" name="TextBox 6"/>
          <p:cNvSpPr txBox="1"/>
          <p:nvPr/>
        </p:nvSpPr>
        <p:spPr>
          <a:xfrm>
            <a:off x="502920" y="6565392"/>
            <a:ext cx="10634472" cy="256032"/>
          </a:xfrm>
          <a:prstGeom prst="rect">
            <a:avLst/>
          </a:prstGeom>
          <a:noFill/>
        </p:spPr>
        <p:txBody>
          <a:bodyPr wrap="square">
            <a:spAutoFit/>
          </a:bodyPr>
          <a:lstStyle/>
          <a:p>
            <a:pPr algn="l"/>
            <a:r>
              <a:rPr sz="800" b="0" i="0">
                <a:solidFill>
                  <a:srgbClr val="1E3A5F"/>
                </a:solidFill>
              </a:rPr>
              <a:t>ICDEV™  ·  A System That Builds Systems</a:t>
            </a:r>
          </a:p>
        </p:txBody>
      </p:sp>
      <p:sp>
        <p:nvSpPr>
          <p:cNvPr id="8" name="TextBox 7"/>
          <p:cNvSpPr txBox="1"/>
          <p:nvPr/>
        </p:nvSpPr>
        <p:spPr>
          <a:xfrm>
            <a:off x="11457432" y="6565392"/>
            <a:ext cx="640080" cy="256032"/>
          </a:xfrm>
          <a:prstGeom prst="rect">
            <a:avLst/>
          </a:prstGeom>
          <a:noFill/>
        </p:spPr>
        <p:txBody>
          <a:bodyPr wrap="square">
            <a:spAutoFit/>
          </a:bodyPr>
          <a:lstStyle/>
          <a:p>
            <a:pPr algn="r"/>
            <a:r>
              <a:rPr sz="900" b="0" i="0">
                <a:solidFill>
                  <a:srgbClr val="1E3A5F"/>
                </a:solidFil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65836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109728"/>
            <a:ext cx="11183112" cy="502920"/>
          </a:xfrm>
          <a:prstGeom prst="rect">
            <a:avLst/>
          </a:prstGeom>
          <a:noFill/>
        </p:spPr>
        <p:txBody>
          <a:bodyPr wrap="square">
            <a:spAutoFit/>
          </a:bodyPr>
          <a:lstStyle/>
          <a:p>
            <a:pPr algn="l"/>
            <a:r>
              <a:rPr sz="2200" b="1" i="0">
                <a:solidFill>
                  <a:srgbClr val="C8A951"/>
                </a:solidFill>
              </a:rPr>
              <a:t>Enter ICDEV™ — The System That Builds Systems</a:t>
            </a:r>
          </a:p>
        </p:txBody>
      </p:sp>
      <p:sp>
        <p:nvSpPr>
          <p:cNvPr id="5" name="Rectangle 4"/>
          <p:cNvSpPr/>
          <p:nvPr/>
        </p:nvSpPr>
        <p:spPr>
          <a:xfrm>
            <a:off x="502920" y="658368"/>
            <a:ext cx="11183112" cy="36576"/>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9456" y="777240"/>
            <a:ext cx="11183112" cy="5120640"/>
          </a:xfrm>
          <a:prstGeom prst="rect">
            <a:avLst/>
          </a:prstGeom>
          <a:noFill/>
        </p:spPr>
        <p:txBody>
          <a:bodyPr wrap="square">
            <a:spAutoFit/>
          </a:bodyPr>
          <a:lstStyle/>
          <a:p>
            <a:pPr algn="l">
              <a:spcBef>
                <a:spcPts val="0"/>
              </a:spcBef>
            </a:pPr>
            <a:r>
              <a:rPr sz="1600">
                <a:solidFill>
                  <a:srgbClr val="FFFFFF"/>
                </a:solidFill>
              </a:rPr>
              <a:t>▸  20+ design canvases for AI-assisted design across every engineering domain</a:t>
            </a:r>
          </a:p>
          <a:p>
            <a:pPr algn="l">
              <a:spcBef>
                <a:spcPts val="600"/>
              </a:spcBef>
            </a:pPr>
            <a:r>
              <a:rPr sz="1600">
                <a:solidFill>
                  <a:srgbClr val="E0E6F0"/>
                </a:solidFill>
              </a:rPr>
              <a:t>▸  15 AI agents on a coordinated A2A (agent-to-agent) protocol</a:t>
            </a:r>
          </a:p>
          <a:p>
            <a:pPr algn="l">
              <a:spcBef>
                <a:spcPts val="600"/>
              </a:spcBef>
            </a:pPr>
            <a:r>
              <a:rPr sz="1600">
                <a:solidFill>
                  <a:srgbClr val="E0E6F0"/>
                </a:solidFill>
              </a:rPr>
              <a:t>▸  31 always-on reflexes that keep the system healthy while you sleep</a:t>
            </a:r>
          </a:p>
          <a:p>
            <a:pPr algn="l">
              <a:spcBef>
                <a:spcPts val="600"/>
              </a:spcBef>
            </a:pPr>
            <a:r>
              <a:rPr sz="1600">
                <a:solidFill>
                  <a:srgbClr val="E0E6F0"/>
                </a:solidFill>
              </a:rPr>
              <a:t>▸  From RFP to runtime on one stack — no glue code, no integration tax</a:t>
            </a:r>
          </a:p>
        </p:txBody>
      </p:sp>
      <p:sp>
        <p:nvSpPr>
          <p:cNvPr id="7" name="TextBox 6"/>
          <p:cNvSpPr txBox="1"/>
          <p:nvPr/>
        </p:nvSpPr>
        <p:spPr>
          <a:xfrm>
            <a:off x="502920" y="6565392"/>
            <a:ext cx="10634472" cy="256032"/>
          </a:xfrm>
          <a:prstGeom prst="rect">
            <a:avLst/>
          </a:prstGeom>
          <a:noFill/>
        </p:spPr>
        <p:txBody>
          <a:bodyPr wrap="square">
            <a:spAutoFit/>
          </a:bodyPr>
          <a:lstStyle/>
          <a:p>
            <a:pPr algn="l"/>
            <a:r>
              <a:rPr sz="800" b="0" i="0">
                <a:solidFill>
                  <a:srgbClr val="1E3A5F"/>
                </a:solidFill>
              </a:rPr>
              <a:t>ICDEV™  ·  A System That Builds Systems</a:t>
            </a:r>
          </a:p>
        </p:txBody>
      </p:sp>
      <p:sp>
        <p:nvSpPr>
          <p:cNvPr id="8" name="TextBox 7"/>
          <p:cNvSpPr txBox="1"/>
          <p:nvPr/>
        </p:nvSpPr>
        <p:spPr>
          <a:xfrm>
            <a:off x="11457432" y="6565392"/>
            <a:ext cx="640080" cy="256032"/>
          </a:xfrm>
          <a:prstGeom prst="rect">
            <a:avLst/>
          </a:prstGeom>
          <a:noFill/>
        </p:spPr>
        <p:txBody>
          <a:bodyPr wrap="square">
            <a:spAutoFit/>
          </a:bodyPr>
          <a:lstStyle/>
          <a:p>
            <a:pPr algn="r"/>
            <a:r>
              <a:rPr sz="900" b="0" i="0">
                <a:solidFill>
                  <a:srgbClr val="1E3A5F"/>
                </a:solidFil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65836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109728"/>
            <a:ext cx="11183112" cy="502920"/>
          </a:xfrm>
          <a:prstGeom prst="rect">
            <a:avLst/>
          </a:prstGeom>
          <a:noFill/>
        </p:spPr>
        <p:txBody>
          <a:bodyPr wrap="square">
            <a:spAutoFit/>
          </a:bodyPr>
          <a:lstStyle/>
          <a:p>
            <a:pPr algn="l"/>
            <a:r>
              <a:rPr sz="2200" b="1" i="0">
                <a:solidFill>
                  <a:srgbClr val="C8A951"/>
                </a:solidFill>
              </a:rPr>
              <a:t>The ICDEV Ecosystem — Six Capability Domains</a:t>
            </a:r>
          </a:p>
        </p:txBody>
      </p:sp>
      <p:sp>
        <p:nvSpPr>
          <p:cNvPr id="5" name="Rectangle 4"/>
          <p:cNvSpPr/>
          <p:nvPr/>
        </p:nvSpPr>
        <p:spPr>
          <a:xfrm>
            <a:off x="502920" y="658368"/>
            <a:ext cx="11183112" cy="36576"/>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9456" y="777240"/>
            <a:ext cx="11183112" cy="5120640"/>
          </a:xfrm>
          <a:prstGeom prst="rect">
            <a:avLst/>
          </a:prstGeom>
          <a:noFill/>
        </p:spPr>
        <p:txBody>
          <a:bodyPr wrap="square">
            <a:spAutoFit/>
          </a:bodyPr>
          <a:lstStyle/>
          <a:p>
            <a:pPr algn="l">
              <a:spcBef>
                <a:spcPts val="0"/>
              </a:spcBef>
            </a:pPr>
            <a:r>
              <a:rPr sz="1600">
                <a:solidFill>
                  <a:srgbClr val="FFFFFF"/>
                </a:solidFill>
              </a:rPr>
              <a:t>▸  Design Canvases — Network, Security, Infrastructure, Agentic AI, Documents</a:t>
            </a:r>
          </a:p>
          <a:p>
            <a:pPr algn="l">
              <a:spcBef>
                <a:spcPts val="600"/>
              </a:spcBef>
            </a:pPr>
            <a:r>
              <a:rPr sz="1600">
                <a:solidFill>
                  <a:srgbClr val="E0E6F0"/>
                </a:solidFill>
              </a:rPr>
              <a:t>▸  Compliance &amp; ATO — FedRAMP, CMMC, NIST, cATO, crosswalk engine</a:t>
            </a:r>
          </a:p>
          <a:p>
            <a:pPr algn="l">
              <a:spcBef>
                <a:spcPts val="600"/>
              </a:spcBef>
            </a:pPr>
            <a:r>
              <a:rPr sz="1600">
                <a:solidFill>
                  <a:srgbClr val="E0E6F0"/>
                </a:solidFill>
              </a:rPr>
              <a:t>▸  GovCon Intelligence — SAM.gov capture, proposals, CPMP post-award</a:t>
            </a:r>
          </a:p>
          <a:p>
            <a:pPr algn="l">
              <a:spcBef>
                <a:spcPts val="600"/>
              </a:spcBef>
            </a:pPr>
            <a:r>
              <a:rPr sz="1600">
                <a:solidFill>
                  <a:srgbClr val="E0E6F0"/>
                </a:solidFill>
              </a:rPr>
              <a:t>▸  Agentic AI Platform — 15 agents, ANVIL 5-phase build, Genesis reflexes</a:t>
            </a:r>
          </a:p>
          <a:p>
            <a:pPr algn="l">
              <a:spcBef>
                <a:spcPts val="600"/>
              </a:spcBef>
            </a:pPr>
            <a:r>
              <a:rPr sz="1600">
                <a:solidFill>
                  <a:srgbClr val="E0E6F0"/>
                </a:solidFill>
              </a:rPr>
              <a:t>▸  Security &amp; ZTA — NSA ZIG (7 pillars), zero-trust, OWASP Agentic</a:t>
            </a:r>
          </a:p>
        </p:txBody>
      </p:sp>
      <p:sp>
        <p:nvSpPr>
          <p:cNvPr id="7" name="TextBox 6"/>
          <p:cNvSpPr txBox="1"/>
          <p:nvPr/>
        </p:nvSpPr>
        <p:spPr>
          <a:xfrm>
            <a:off x="502920" y="6565392"/>
            <a:ext cx="10634472" cy="256032"/>
          </a:xfrm>
          <a:prstGeom prst="rect">
            <a:avLst/>
          </a:prstGeom>
          <a:noFill/>
        </p:spPr>
        <p:txBody>
          <a:bodyPr wrap="square">
            <a:spAutoFit/>
          </a:bodyPr>
          <a:lstStyle/>
          <a:p>
            <a:pPr algn="l"/>
            <a:r>
              <a:rPr sz="800" b="0" i="0">
                <a:solidFill>
                  <a:srgbClr val="1E3A5F"/>
                </a:solidFill>
              </a:rPr>
              <a:t>ICDEV™  ·  A System That Builds Systems</a:t>
            </a:r>
          </a:p>
        </p:txBody>
      </p:sp>
      <p:sp>
        <p:nvSpPr>
          <p:cNvPr id="8" name="TextBox 7"/>
          <p:cNvSpPr txBox="1"/>
          <p:nvPr/>
        </p:nvSpPr>
        <p:spPr>
          <a:xfrm>
            <a:off x="11457432" y="6565392"/>
            <a:ext cx="640080" cy="256032"/>
          </a:xfrm>
          <a:prstGeom prst="rect">
            <a:avLst/>
          </a:prstGeom>
          <a:noFill/>
        </p:spPr>
        <p:txBody>
          <a:bodyPr wrap="square">
            <a:spAutoFit/>
          </a:bodyPr>
          <a:lstStyle/>
          <a:p>
            <a:pPr algn="r"/>
            <a:r>
              <a:rPr sz="900" b="0" i="0">
                <a:solidFill>
                  <a:srgbClr val="1E3A5F"/>
                </a:solidFil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65836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109728"/>
            <a:ext cx="11183112" cy="502920"/>
          </a:xfrm>
          <a:prstGeom prst="rect">
            <a:avLst/>
          </a:prstGeom>
          <a:noFill/>
        </p:spPr>
        <p:txBody>
          <a:bodyPr wrap="square">
            <a:spAutoFit/>
          </a:bodyPr>
          <a:lstStyle/>
          <a:p>
            <a:pPr algn="l"/>
            <a:r>
              <a:rPr sz="2200" b="1" i="0">
                <a:solidFill>
                  <a:srgbClr val="C8A951"/>
                </a:solidFill>
              </a:rPr>
              <a:t>Use Case 1 — Proposals: 14 Days to 5 Days</a:t>
            </a:r>
          </a:p>
        </p:txBody>
      </p:sp>
      <p:sp>
        <p:nvSpPr>
          <p:cNvPr id="5" name="Rectangle 4"/>
          <p:cNvSpPr/>
          <p:nvPr/>
        </p:nvSpPr>
        <p:spPr>
          <a:xfrm>
            <a:off x="502920" y="658368"/>
            <a:ext cx="11183112" cy="36576"/>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9456" y="777240"/>
            <a:ext cx="6150711" cy="5120640"/>
          </a:xfrm>
          <a:prstGeom prst="rect">
            <a:avLst/>
          </a:prstGeom>
          <a:noFill/>
        </p:spPr>
        <p:txBody>
          <a:bodyPr wrap="square">
            <a:spAutoFit/>
          </a:bodyPr>
          <a:lstStyle/>
          <a:p>
            <a:pPr algn="l">
              <a:spcBef>
                <a:spcPts val="0"/>
              </a:spcBef>
            </a:pPr>
            <a:r>
              <a:rPr sz="1600">
                <a:solidFill>
                  <a:srgbClr val="FFFFFF"/>
                </a:solidFill>
              </a:rPr>
              <a:t>▸  Challenge: A 200-page RFP arrives. You have 14 days. The team spends week 1 reading, week 2 writing, week 3 polishing — and you're already late.</a:t>
            </a:r>
          </a:p>
          <a:p>
            <a:pPr algn="l">
              <a:spcBef>
                <a:spcPts val="600"/>
              </a:spcBef>
            </a:pPr>
            <a:r>
              <a:rPr sz="1600">
                <a:solidFill>
                  <a:srgbClr val="E0E6F0"/>
                </a:solidFill>
              </a:rPr>
              <a:t>▸  Solution: GovCon canvas scans SAM.gov, mines requirements, scores bid/no-bid, drafts sections, auto-populates compliance matrices.</a:t>
            </a:r>
          </a:p>
          <a:p>
            <a:pPr algn="l">
              <a:spcBef>
                <a:spcPts val="600"/>
              </a:spcBef>
            </a:pPr>
            <a:r>
              <a:rPr sz="1600">
                <a:solidFill>
                  <a:srgbClr val="E0E6F0"/>
                </a:solidFill>
              </a:rPr>
              <a:t>▸  Outcome: 14 days → 5 days. Bid cycle cut by 60%. Win-rate lift on compliant submissions.</a:t>
            </a:r>
          </a:p>
        </p:txBody>
      </p:sp>
      <p:pic>
        <p:nvPicPr>
          <p:cNvPr id="7" name="Picture 6" descr="deck_curated_prop.png"/>
          <p:cNvPicPr>
            <a:picLocks noChangeAspect="1"/>
          </p:cNvPicPr>
          <p:nvPr/>
        </p:nvPicPr>
        <p:blipFill>
          <a:blip r:embed="rId2"/>
          <a:stretch>
            <a:fillRect/>
          </a:stretch>
        </p:blipFill>
        <p:spPr>
          <a:xfrm>
            <a:off x="6790791" y="777240"/>
            <a:ext cx="4940960" cy="5120640"/>
          </a:xfrm>
          <a:prstGeom prst="rect">
            <a:avLst/>
          </a:prstGeom>
        </p:spPr>
      </p:pic>
      <p:sp>
        <p:nvSpPr>
          <p:cNvPr id="8" name="TextBox 7"/>
          <p:cNvSpPr txBox="1"/>
          <p:nvPr/>
        </p:nvSpPr>
        <p:spPr>
          <a:xfrm>
            <a:off x="502920" y="6565392"/>
            <a:ext cx="10634472" cy="256032"/>
          </a:xfrm>
          <a:prstGeom prst="rect">
            <a:avLst/>
          </a:prstGeom>
          <a:noFill/>
        </p:spPr>
        <p:txBody>
          <a:bodyPr wrap="square">
            <a:spAutoFit/>
          </a:bodyPr>
          <a:lstStyle/>
          <a:p>
            <a:pPr algn="l"/>
            <a:r>
              <a:rPr sz="800" b="0" i="0">
                <a:solidFill>
                  <a:srgbClr val="1E3A5F"/>
                </a:solidFill>
              </a:rPr>
              <a:t>ICDEV™  ·  A System That Builds Systems</a:t>
            </a:r>
          </a:p>
        </p:txBody>
      </p:sp>
      <p:sp>
        <p:nvSpPr>
          <p:cNvPr id="9" name="TextBox 8"/>
          <p:cNvSpPr txBox="1"/>
          <p:nvPr/>
        </p:nvSpPr>
        <p:spPr>
          <a:xfrm>
            <a:off x="11457432" y="6565392"/>
            <a:ext cx="640080" cy="256032"/>
          </a:xfrm>
          <a:prstGeom prst="rect">
            <a:avLst/>
          </a:prstGeom>
          <a:noFill/>
        </p:spPr>
        <p:txBody>
          <a:bodyPr wrap="square">
            <a:spAutoFit/>
          </a:bodyPr>
          <a:lstStyle/>
          <a:p>
            <a:pPr algn="r"/>
            <a:r>
              <a:rPr sz="900" b="0" i="0">
                <a:solidFill>
                  <a:srgbClr val="1E3A5F"/>
                </a:solidFil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65836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109728"/>
            <a:ext cx="11183112" cy="502920"/>
          </a:xfrm>
          <a:prstGeom prst="rect">
            <a:avLst/>
          </a:prstGeom>
          <a:noFill/>
        </p:spPr>
        <p:txBody>
          <a:bodyPr wrap="square">
            <a:spAutoFit/>
          </a:bodyPr>
          <a:lstStyle/>
          <a:p>
            <a:pPr algn="l"/>
            <a:r>
              <a:rPr sz="2200" b="1" i="0">
                <a:solidFill>
                  <a:srgbClr val="C8A951"/>
                </a:solidFill>
              </a:rPr>
              <a:t>Use Case 2 — ATO: 18 Months to 60 Days</a:t>
            </a:r>
          </a:p>
        </p:txBody>
      </p:sp>
      <p:sp>
        <p:nvSpPr>
          <p:cNvPr id="5" name="Rectangle 4"/>
          <p:cNvSpPr/>
          <p:nvPr/>
        </p:nvSpPr>
        <p:spPr>
          <a:xfrm>
            <a:off x="502920" y="658368"/>
            <a:ext cx="11183112" cy="36576"/>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9456" y="777240"/>
            <a:ext cx="6150711" cy="5120640"/>
          </a:xfrm>
          <a:prstGeom prst="rect">
            <a:avLst/>
          </a:prstGeom>
          <a:noFill/>
        </p:spPr>
        <p:txBody>
          <a:bodyPr wrap="square">
            <a:spAutoFit/>
          </a:bodyPr>
          <a:lstStyle/>
          <a:p>
            <a:pPr algn="l">
              <a:spcBef>
                <a:spcPts val="0"/>
              </a:spcBef>
            </a:pPr>
            <a:r>
              <a:rPr sz="1600">
                <a:solidFill>
                  <a:srgbClr val="FFFFFF"/>
                </a:solidFill>
              </a:rPr>
              <a:t>▸  Challenge: A new system needs an ATO. You need SSP, POAM, STIG results, SBOM, FIPS 199 categorization. Each lives in a different tool, owned by a different team.</a:t>
            </a:r>
          </a:p>
          <a:p>
            <a:pPr algn="l">
              <a:spcBef>
                <a:spcPts val="600"/>
              </a:spcBef>
            </a:pPr>
            <a:r>
              <a:rPr sz="1600">
                <a:solidFill>
                  <a:srgbClr val="E0E6F0"/>
                </a:solidFill>
              </a:rPr>
              <a:t>▸  Solution: Compliance canvas generates SSP from controls catalog, runs NIST 800-53 → FedRAMP/CMMC crosswalk, pulls live STIG/SBOM evidence, populates POAM, ships a complete package. cATO continuous monitoring every 6 hours.</a:t>
            </a:r>
          </a:p>
          <a:p>
            <a:pPr algn="l">
              <a:spcBef>
                <a:spcPts val="600"/>
              </a:spcBef>
            </a:pPr>
            <a:r>
              <a:rPr sz="1600">
                <a:solidFill>
                  <a:srgbClr val="E0E6F0"/>
                </a:solidFill>
              </a:rPr>
              <a:t>▸  Outcome: 18 months → 60 days for initial ATO. Compliance posture visible in real time.</a:t>
            </a:r>
          </a:p>
        </p:txBody>
      </p:sp>
      <p:pic>
        <p:nvPicPr>
          <p:cNvPr id="7" name="Picture 6" descr="deck_curated_comp.png"/>
          <p:cNvPicPr>
            <a:picLocks noChangeAspect="1"/>
          </p:cNvPicPr>
          <p:nvPr/>
        </p:nvPicPr>
        <p:blipFill>
          <a:blip r:embed="rId2"/>
          <a:stretch>
            <a:fillRect/>
          </a:stretch>
        </p:blipFill>
        <p:spPr>
          <a:xfrm>
            <a:off x="6790791" y="777240"/>
            <a:ext cx="4940960" cy="5120640"/>
          </a:xfrm>
          <a:prstGeom prst="rect">
            <a:avLst/>
          </a:prstGeom>
        </p:spPr>
      </p:pic>
      <p:sp>
        <p:nvSpPr>
          <p:cNvPr id="8" name="TextBox 7"/>
          <p:cNvSpPr txBox="1"/>
          <p:nvPr/>
        </p:nvSpPr>
        <p:spPr>
          <a:xfrm>
            <a:off x="502920" y="6565392"/>
            <a:ext cx="10634472" cy="256032"/>
          </a:xfrm>
          <a:prstGeom prst="rect">
            <a:avLst/>
          </a:prstGeom>
          <a:noFill/>
        </p:spPr>
        <p:txBody>
          <a:bodyPr wrap="square">
            <a:spAutoFit/>
          </a:bodyPr>
          <a:lstStyle/>
          <a:p>
            <a:pPr algn="l"/>
            <a:r>
              <a:rPr sz="800" b="0" i="0">
                <a:solidFill>
                  <a:srgbClr val="1E3A5F"/>
                </a:solidFill>
              </a:rPr>
              <a:t>ICDEV™  ·  A System That Builds Systems</a:t>
            </a:r>
          </a:p>
        </p:txBody>
      </p:sp>
      <p:sp>
        <p:nvSpPr>
          <p:cNvPr id="9" name="TextBox 8"/>
          <p:cNvSpPr txBox="1"/>
          <p:nvPr/>
        </p:nvSpPr>
        <p:spPr>
          <a:xfrm>
            <a:off x="11457432" y="6565392"/>
            <a:ext cx="640080" cy="256032"/>
          </a:xfrm>
          <a:prstGeom prst="rect">
            <a:avLst/>
          </a:prstGeom>
          <a:noFill/>
        </p:spPr>
        <p:txBody>
          <a:bodyPr wrap="square">
            <a:spAutoFit/>
          </a:bodyPr>
          <a:lstStyle/>
          <a:p>
            <a:pPr algn="r"/>
            <a:r>
              <a:rPr sz="900" b="0" i="0">
                <a:solidFill>
                  <a:srgbClr val="1E3A5F"/>
                </a:solidFil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65836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109728"/>
            <a:ext cx="11183112" cy="502920"/>
          </a:xfrm>
          <a:prstGeom prst="rect">
            <a:avLst/>
          </a:prstGeom>
          <a:noFill/>
        </p:spPr>
        <p:txBody>
          <a:bodyPr wrap="square">
            <a:spAutoFit/>
          </a:bodyPr>
          <a:lstStyle/>
          <a:p>
            <a:pPr algn="l"/>
            <a:r>
              <a:rPr sz="2200" b="1" i="0">
                <a:solidFill>
                  <a:srgbClr val="C8A951"/>
                </a:solidFill>
              </a:rPr>
              <a:t>Use Case 3 — Program Management: Spreadsheets to Live Contract</a:t>
            </a:r>
          </a:p>
        </p:txBody>
      </p:sp>
      <p:sp>
        <p:nvSpPr>
          <p:cNvPr id="5" name="Rectangle 4"/>
          <p:cNvSpPr/>
          <p:nvPr/>
        </p:nvSpPr>
        <p:spPr>
          <a:xfrm>
            <a:off x="502920" y="658368"/>
            <a:ext cx="11183112" cy="36576"/>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9456" y="777240"/>
            <a:ext cx="6150711" cy="5120640"/>
          </a:xfrm>
          <a:prstGeom prst="rect">
            <a:avLst/>
          </a:prstGeom>
          <a:noFill/>
        </p:spPr>
        <p:txBody>
          <a:bodyPr wrap="square">
            <a:spAutoFit/>
          </a:bodyPr>
          <a:lstStyle/>
          <a:p>
            <a:pPr algn="l">
              <a:spcBef>
                <a:spcPts val="0"/>
              </a:spcBef>
            </a:pPr>
            <a:r>
              <a:rPr sz="1600">
                <a:solidFill>
                  <a:srgbClr val="FFFFFF"/>
                </a:solidFill>
              </a:rPr>
              <a:t>▸  Challenge: A $40M contract has 12 CLINs (Contract Line Items), 47 deliverables, and a COR (Contracting Officer's Representative) who wants EVM (Earned Value Management) and CPARS (Contractor Performance Assessment Reporting System) on demand.</a:t>
            </a:r>
          </a:p>
          <a:p>
            <a:pPr algn="l">
              <a:spcBef>
                <a:spcPts val="600"/>
              </a:spcBef>
            </a:pPr>
            <a:r>
              <a:rPr sz="1600">
                <a:solidFill>
                  <a:srgbClr val="E0E6F0"/>
                </a:solidFill>
              </a:rPr>
              <a:t>▸  Solution: CPMP canvas tracks EVM, predicts CPARS scores, auto-detects negative events, generates CDRLs (Contract Data Requirements List), surfaces contract health in real time.</a:t>
            </a:r>
          </a:p>
          <a:p>
            <a:pPr algn="l">
              <a:spcBef>
                <a:spcPts val="600"/>
              </a:spcBef>
            </a:pPr>
            <a:r>
              <a:rPr sz="1600">
                <a:solidFill>
                  <a:srgbClr val="E0E6F0"/>
                </a:solidFill>
              </a:rPr>
              <a:t>▸  Outcome: No more end-of-month surprises. CORs get answers in 30 seconds, not 3 days.</a:t>
            </a:r>
          </a:p>
        </p:txBody>
      </p:sp>
      <p:pic>
        <p:nvPicPr>
          <p:cNvPr id="7" name="Picture 6" descr="deck_curated_cpmp.png"/>
          <p:cNvPicPr>
            <a:picLocks noChangeAspect="1"/>
          </p:cNvPicPr>
          <p:nvPr/>
        </p:nvPicPr>
        <p:blipFill>
          <a:blip r:embed="rId2"/>
          <a:stretch>
            <a:fillRect/>
          </a:stretch>
        </p:blipFill>
        <p:spPr>
          <a:xfrm>
            <a:off x="6790791" y="777240"/>
            <a:ext cx="4940960" cy="5120640"/>
          </a:xfrm>
          <a:prstGeom prst="rect">
            <a:avLst/>
          </a:prstGeom>
        </p:spPr>
      </p:pic>
      <p:sp>
        <p:nvSpPr>
          <p:cNvPr id="8" name="TextBox 7"/>
          <p:cNvSpPr txBox="1"/>
          <p:nvPr/>
        </p:nvSpPr>
        <p:spPr>
          <a:xfrm>
            <a:off x="502920" y="6565392"/>
            <a:ext cx="10634472" cy="256032"/>
          </a:xfrm>
          <a:prstGeom prst="rect">
            <a:avLst/>
          </a:prstGeom>
          <a:noFill/>
        </p:spPr>
        <p:txBody>
          <a:bodyPr wrap="square">
            <a:spAutoFit/>
          </a:bodyPr>
          <a:lstStyle/>
          <a:p>
            <a:pPr algn="l"/>
            <a:r>
              <a:rPr sz="800" b="0" i="0">
                <a:solidFill>
                  <a:srgbClr val="1E3A5F"/>
                </a:solidFill>
              </a:rPr>
              <a:t>ICDEV™  ·  A System That Builds Systems</a:t>
            </a:r>
          </a:p>
        </p:txBody>
      </p:sp>
      <p:sp>
        <p:nvSpPr>
          <p:cNvPr id="9" name="TextBox 8"/>
          <p:cNvSpPr txBox="1"/>
          <p:nvPr/>
        </p:nvSpPr>
        <p:spPr>
          <a:xfrm>
            <a:off x="11457432" y="6565392"/>
            <a:ext cx="640080" cy="256032"/>
          </a:xfrm>
          <a:prstGeom prst="rect">
            <a:avLst/>
          </a:prstGeom>
          <a:noFill/>
        </p:spPr>
        <p:txBody>
          <a:bodyPr wrap="square">
            <a:spAutoFit/>
          </a:bodyPr>
          <a:lstStyle/>
          <a:p>
            <a:pPr algn="r"/>
            <a:r>
              <a:rPr sz="900" b="0" i="0">
                <a:solidFill>
                  <a:srgbClr val="1E3A5F"/>
                </a:solidFil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65836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109728"/>
            <a:ext cx="11183112" cy="502920"/>
          </a:xfrm>
          <a:prstGeom prst="rect">
            <a:avLst/>
          </a:prstGeom>
          <a:noFill/>
        </p:spPr>
        <p:txBody>
          <a:bodyPr wrap="square">
            <a:spAutoFit/>
          </a:bodyPr>
          <a:lstStyle/>
          <a:p>
            <a:pPr algn="l"/>
            <a:r>
              <a:rPr sz="2200" b="1" i="0">
                <a:solidFill>
                  <a:srgbClr val="C8A951"/>
                </a:solidFill>
              </a:rPr>
              <a:t>The Live System — At a Glance</a:t>
            </a:r>
          </a:p>
        </p:txBody>
      </p:sp>
      <p:sp>
        <p:nvSpPr>
          <p:cNvPr id="5" name="Rectangle 4"/>
          <p:cNvSpPr/>
          <p:nvPr/>
        </p:nvSpPr>
        <p:spPr>
          <a:xfrm>
            <a:off x="502920" y="658368"/>
            <a:ext cx="11183112" cy="36576"/>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9456" y="777240"/>
            <a:ext cx="6150711" cy="5120640"/>
          </a:xfrm>
          <a:prstGeom prst="rect">
            <a:avLst/>
          </a:prstGeom>
          <a:noFill/>
        </p:spPr>
        <p:txBody>
          <a:bodyPr wrap="square">
            <a:spAutoFit/>
          </a:bodyPr>
          <a:lstStyle/>
          <a:p>
            <a:pPr algn="l">
              <a:spcBef>
                <a:spcPts val="0"/>
              </a:spcBef>
            </a:pPr>
            <a:r>
              <a:rPr sz="1600">
                <a:solidFill>
                  <a:srgbClr val="FFFFFF"/>
                </a:solidFill>
              </a:rPr>
              <a:t>▸  Home — unified mission view across portfolio, projects, and reflexes</a:t>
            </a:r>
          </a:p>
          <a:p>
            <a:pPr algn="l">
              <a:spcBef>
                <a:spcPts val="600"/>
              </a:spcBef>
            </a:pPr>
            <a:r>
              <a:rPr sz="1600">
                <a:solidFill>
                  <a:srgbClr val="E0E6F0"/>
                </a:solidFill>
              </a:rPr>
              <a:t>▸  Proposals — live pipeline with bid/no-bid scoring and section drafting</a:t>
            </a:r>
          </a:p>
          <a:p>
            <a:pPr algn="l">
              <a:spcBef>
                <a:spcPts val="600"/>
              </a:spcBef>
            </a:pPr>
            <a:r>
              <a:rPr sz="1600">
                <a:solidFill>
                  <a:srgbClr val="E0E6F0"/>
                </a:solidFill>
              </a:rPr>
              <a:t>▸  Compliance — real-time posture across FedRAMP, CMMC, NIST, cATO</a:t>
            </a:r>
          </a:p>
          <a:p>
            <a:pPr algn="l">
              <a:spcBef>
                <a:spcPts val="600"/>
              </a:spcBef>
            </a:pPr>
            <a:r>
              <a:rPr sz="1600">
                <a:solidFill>
                  <a:srgbClr val="E0E6F0"/>
                </a:solidFill>
              </a:rPr>
              <a:t>▸  CPMP — contract health, EVM, CPARS prediction, CDRL auto-generation</a:t>
            </a:r>
          </a:p>
          <a:p>
            <a:pPr algn="l">
              <a:spcBef>
                <a:spcPts val="600"/>
              </a:spcBef>
            </a:pPr>
            <a:r>
              <a:rPr sz="1600">
                <a:solidFill>
                  <a:srgbClr val="E0E6F0"/>
                </a:solidFill>
              </a:rPr>
              <a:t>▸  Security/ZIG — zero-trust scoring across 7 NSA pillars</a:t>
            </a:r>
          </a:p>
        </p:txBody>
      </p:sp>
      <p:pic>
        <p:nvPicPr>
          <p:cNvPr id="7" name="Picture 6" descr="deck_curated_home.png"/>
          <p:cNvPicPr>
            <a:picLocks noChangeAspect="1"/>
          </p:cNvPicPr>
          <p:nvPr/>
        </p:nvPicPr>
        <p:blipFill>
          <a:blip r:embed="rId2"/>
          <a:stretch>
            <a:fillRect/>
          </a:stretch>
        </p:blipFill>
        <p:spPr>
          <a:xfrm>
            <a:off x="6790791" y="777240"/>
            <a:ext cx="4940960" cy="5120640"/>
          </a:xfrm>
          <a:prstGeom prst="rect">
            <a:avLst/>
          </a:prstGeom>
        </p:spPr>
      </p:pic>
      <p:sp>
        <p:nvSpPr>
          <p:cNvPr id="8" name="TextBox 7"/>
          <p:cNvSpPr txBox="1"/>
          <p:nvPr/>
        </p:nvSpPr>
        <p:spPr>
          <a:xfrm>
            <a:off x="502920" y="6565392"/>
            <a:ext cx="10634472" cy="256032"/>
          </a:xfrm>
          <a:prstGeom prst="rect">
            <a:avLst/>
          </a:prstGeom>
          <a:noFill/>
        </p:spPr>
        <p:txBody>
          <a:bodyPr wrap="square">
            <a:spAutoFit/>
          </a:bodyPr>
          <a:lstStyle/>
          <a:p>
            <a:pPr algn="l"/>
            <a:r>
              <a:rPr sz="800" b="0" i="0">
                <a:solidFill>
                  <a:srgbClr val="1E3A5F"/>
                </a:solidFill>
              </a:rPr>
              <a:t>ICDEV™  ·  A System That Builds Systems</a:t>
            </a:r>
          </a:p>
        </p:txBody>
      </p:sp>
      <p:sp>
        <p:nvSpPr>
          <p:cNvPr id="9" name="TextBox 8"/>
          <p:cNvSpPr txBox="1"/>
          <p:nvPr/>
        </p:nvSpPr>
        <p:spPr>
          <a:xfrm>
            <a:off x="11457432" y="6565392"/>
            <a:ext cx="640080" cy="256032"/>
          </a:xfrm>
          <a:prstGeom prst="rect">
            <a:avLst/>
          </a:prstGeom>
          <a:noFill/>
        </p:spPr>
        <p:txBody>
          <a:bodyPr wrap="square">
            <a:spAutoFit/>
          </a:bodyPr>
          <a:lstStyle/>
          <a:p>
            <a:pPr algn="r"/>
            <a:r>
              <a:rPr sz="900" b="0" i="0">
                <a:solidFill>
                  <a:srgbClr val="1E3A5F"/>
                </a:solidFil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65836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109728"/>
            <a:ext cx="11183112" cy="502920"/>
          </a:xfrm>
          <a:prstGeom prst="rect">
            <a:avLst/>
          </a:prstGeom>
          <a:noFill/>
        </p:spPr>
        <p:txBody>
          <a:bodyPr wrap="square">
            <a:spAutoFit/>
          </a:bodyPr>
          <a:lstStyle/>
          <a:p>
            <a:pPr algn="l"/>
            <a:r>
              <a:rPr sz="2200" b="1" i="0">
                <a:solidFill>
                  <a:srgbClr val="C8A951"/>
                </a:solidFill>
              </a:rPr>
              <a:t>What Makes ICDEV Different</a:t>
            </a:r>
          </a:p>
        </p:txBody>
      </p:sp>
      <p:sp>
        <p:nvSpPr>
          <p:cNvPr id="5" name="Rectangle 4"/>
          <p:cNvSpPr/>
          <p:nvPr/>
        </p:nvSpPr>
        <p:spPr>
          <a:xfrm>
            <a:off x="502920" y="658368"/>
            <a:ext cx="11183112" cy="36576"/>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9456" y="777240"/>
            <a:ext cx="11183112" cy="5120640"/>
          </a:xfrm>
          <a:prstGeom prst="rect">
            <a:avLst/>
          </a:prstGeom>
          <a:noFill/>
        </p:spPr>
        <p:txBody>
          <a:bodyPr wrap="square">
            <a:spAutoFit/>
          </a:bodyPr>
          <a:lstStyle/>
          <a:p>
            <a:pPr algn="l">
              <a:spcBef>
                <a:spcPts val="0"/>
              </a:spcBef>
            </a:pPr>
            <a:r>
              <a:rPr sz="1600">
                <a:solidFill>
                  <a:srgbClr val="FFFFFF"/>
                </a:solidFill>
              </a:rPr>
              <a:t>▸  Compliance-as-generator, not compliance-as-tax</a:t>
            </a:r>
          </a:p>
          <a:p>
            <a:pPr algn="l">
              <a:spcBef>
                <a:spcPts val="600"/>
              </a:spcBef>
            </a:pPr>
            <a:r>
              <a:rPr sz="1600">
                <a:solidFill>
                  <a:srgbClr val="E0E6F0"/>
                </a:solidFill>
              </a:rPr>
              <a:t>▸  Always-on reflexes (31) — your system fixes itself while you sleep</a:t>
            </a:r>
          </a:p>
          <a:p>
            <a:pPr algn="l">
              <a:spcBef>
                <a:spcPts val="600"/>
              </a:spcBef>
            </a:pPr>
            <a:r>
              <a:rPr sz="1600">
                <a:solidFill>
                  <a:srgbClr val="E0E6F0"/>
                </a:solidFill>
              </a:rPr>
              <a:t>▸  Air-gap native — works in classified environments, no cloud required</a:t>
            </a:r>
          </a:p>
          <a:p>
            <a:pPr algn="l">
              <a:spcBef>
                <a:spcPts val="600"/>
              </a:spcBef>
            </a:pPr>
            <a:r>
              <a:rPr sz="1600">
                <a:solidFill>
                  <a:srgbClr val="E0E6F0"/>
                </a:solidFill>
              </a:rPr>
              <a:t>▸  One stack end-to-end — no glue code, no integration tax</a:t>
            </a:r>
          </a:p>
          <a:p>
            <a:pPr algn="l">
              <a:spcBef>
                <a:spcPts val="600"/>
              </a:spcBef>
            </a:pPr>
            <a:r>
              <a:rPr sz="1600">
                <a:solidFill>
                  <a:srgbClr val="E0E6F0"/>
                </a:solidFill>
              </a:rPr>
              <a:t>▸  Built for federal — FedRAMP, CMMC, NIST, ATO, cATO, NSA ZIG, NDAA 889 baked in</a:t>
            </a:r>
          </a:p>
        </p:txBody>
      </p:sp>
      <p:sp>
        <p:nvSpPr>
          <p:cNvPr id="7" name="TextBox 6"/>
          <p:cNvSpPr txBox="1"/>
          <p:nvPr/>
        </p:nvSpPr>
        <p:spPr>
          <a:xfrm>
            <a:off x="502920" y="6565392"/>
            <a:ext cx="10634472" cy="256032"/>
          </a:xfrm>
          <a:prstGeom prst="rect">
            <a:avLst/>
          </a:prstGeom>
          <a:noFill/>
        </p:spPr>
        <p:txBody>
          <a:bodyPr wrap="square">
            <a:spAutoFit/>
          </a:bodyPr>
          <a:lstStyle/>
          <a:p>
            <a:pPr algn="l"/>
            <a:r>
              <a:rPr sz="800" b="0" i="0">
                <a:solidFill>
                  <a:srgbClr val="1E3A5F"/>
                </a:solidFill>
              </a:rPr>
              <a:t>ICDEV™  ·  A System That Builds Systems</a:t>
            </a:r>
          </a:p>
        </p:txBody>
      </p:sp>
      <p:sp>
        <p:nvSpPr>
          <p:cNvPr id="8" name="TextBox 7"/>
          <p:cNvSpPr txBox="1"/>
          <p:nvPr/>
        </p:nvSpPr>
        <p:spPr>
          <a:xfrm>
            <a:off x="11457432" y="6565392"/>
            <a:ext cx="640080" cy="256032"/>
          </a:xfrm>
          <a:prstGeom prst="rect">
            <a:avLst/>
          </a:prstGeom>
          <a:noFill/>
        </p:spPr>
        <p:txBody>
          <a:bodyPr wrap="square">
            <a:spAutoFit/>
          </a:bodyPr>
          <a:lstStyle/>
          <a:p>
            <a:pPr algn="r"/>
            <a:r>
              <a:rPr sz="900" b="0" i="0">
                <a:solidFill>
                  <a:srgbClr val="1E3A5F"/>
                </a:solidFil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65836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109728"/>
            <a:ext cx="11183112" cy="502920"/>
          </a:xfrm>
          <a:prstGeom prst="rect">
            <a:avLst/>
          </a:prstGeom>
          <a:noFill/>
        </p:spPr>
        <p:txBody>
          <a:bodyPr wrap="square">
            <a:spAutoFit/>
          </a:bodyPr>
          <a:lstStyle/>
          <a:p>
            <a:pPr algn="l"/>
            <a:r>
              <a:rPr sz="2200" b="1" i="0">
                <a:solidFill>
                  <a:srgbClr val="C8A951"/>
                </a:solidFill>
              </a:rPr>
              <a:t>The Agentic Engine — 15 Agents, 31 Reflexes</a:t>
            </a:r>
          </a:p>
        </p:txBody>
      </p:sp>
      <p:sp>
        <p:nvSpPr>
          <p:cNvPr id="5" name="Rectangle 4"/>
          <p:cNvSpPr/>
          <p:nvPr/>
        </p:nvSpPr>
        <p:spPr>
          <a:xfrm>
            <a:off x="502920" y="658368"/>
            <a:ext cx="11183112" cy="36576"/>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9456" y="777240"/>
            <a:ext cx="6150711" cy="5120640"/>
          </a:xfrm>
          <a:prstGeom prst="rect">
            <a:avLst/>
          </a:prstGeom>
          <a:noFill/>
        </p:spPr>
        <p:txBody>
          <a:bodyPr wrap="square">
            <a:spAutoFit/>
          </a:bodyPr>
          <a:lstStyle/>
          <a:p>
            <a:pPr algn="l">
              <a:spcBef>
                <a:spcPts val="0"/>
              </a:spcBef>
            </a:pPr>
            <a:r>
              <a:rPr sz="1600">
                <a:solidFill>
                  <a:srgbClr val="FFFFFF"/>
                </a:solidFill>
              </a:rPr>
              <a:t>▸  Genesis daemon — always-on autonomous operations brain</a:t>
            </a:r>
          </a:p>
          <a:p>
            <a:pPr algn="l">
              <a:spcBef>
                <a:spcPts val="600"/>
              </a:spcBef>
            </a:pPr>
            <a:r>
              <a:rPr sz="1600">
                <a:solidFill>
                  <a:srgbClr val="E0E6F0"/>
                </a:solidFill>
              </a:rPr>
              <a:t>▸  failure_triage every 30 minutes — catches problems before humans do</a:t>
            </a:r>
          </a:p>
          <a:p>
            <a:pPr algn="l">
              <a:spcBef>
                <a:spcPts val="600"/>
              </a:spcBef>
            </a:pPr>
            <a:r>
              <a:rPr sz="1600">
                <a:solidFill>
                  <a:srgbClr val="E0E6F0"/>
                </a:solidFill>
              </a:rPr>
              <a:t>▸  awareness cycles every 3 hours — detects drift, gaps, regressions</a:t>
            </a:r>
          </a:p>
          <a:p>
            <a:pPr algn="l">
              <a:spcBef>
                <a:spcPts val="600"/>
              </a:spcBef>
            </a:pPr>
            <a:r>
              <a:rPr sz="1600">
                <a:solidFill>
                  <a:srgbClr val="E0E6F0"/>
                </a:solidFill>
              </a:rPr>
              <a:t>▸  self-healing with confidence ≥ 0.7 — up to 5 fixes per hour</a:t>
            </a:r>
          </a:p>
          <a:p>
            <a:pPr algn="l">
              <a:spcBef>
                <a:spcPts val="600"/>
              </a:spcBef>
            </a:pPr>
            <a:r>
              <a:rPr sz="1600">
                <a:solidFill>
                  <a:srgbClr val="E0E6F0"/>
                </a:solidFill>
              </a:rPr>
              <a:t>▸  ANVIL — 5-phase Test-Driven Development (TDD) workflow: Architect → Navigate → Verify → Integrate → Launch</a:t>
            </a:r>
          </a:p>
        </p:txBody>
      </p:sp>
      <p:pic>
        <p:nvPicPr>
          <p:cNvPr id="7" name="Picture 6" descr="deck_curated_agents.png"/>
          <p:cNvPicPr>
            <a:picLocks noChangeAspect="1"/>
          </p:cNvPicPr>
          <p:nvPr/>
        </p:nvPicPr>
        <p:blipFill>
          <a:blip r:embed="rId2"/>
          <a:stretch>
            <a:fillRect/>
          </a:stretch>
        </p:blipFill>
        <p:spPr>
          <a:xfrm>
            <a:off x="6790791" y="777240"/>
            <a:ext cx="4940960" cy="5120640"/>
          </a:xfrm>
          <a:prstGeom prst="rect">
            <a:avLst/>
          </a:prstGeom>
        </p:spPr>
      </p:pic>
      <p:sp>
        <p:nvSpPr>
          <p:cNvPr id="8" name="TextBox 7"/>
          <p:cNvSpPr txBox="1"/>
          <p:nvPr/>
        </p:nvSpPr>
        <p:spPr>
          <a:xfrm>
            <a:off x="502920" y="6565392"/>
            <a:ext cx="10634472" cy="256032"/>
          </a:xfrm>
          <a:prstGeom prst="rect">
            <a:avLst/>
          </a:prstGeom>
          <a:noFill/>
        </p:spPr>
        <p:txBody>
          <a:bodyPr wrap="square">
            <a:spAutoFit/>
          </a:bodyPr>
          <a:lstStyle/>
          <a:p>
            <a:pPr algn="l"/>
            <a:r>
              <a:rPr sz="800" b="0" i="0">
                <a:solidFill>
                  <a:srgbClr val="1E3A5F"/>
                </a:solidFill>
              </a:rPr>
              <a:t>ICDEV™  ·  A System That Builds Systems</a:t>
            </a:r>
          </a:p>
        </p:txBody>
      </p:sp>
      <p:sp>
        <p:nvSpPr>
          <p:cNvPr id="9" name="TextBox 8"/>
          <p:cNvSpPr txBox="1"/>
          <p:nvPr/>
        </p:nvSpPr>
        <p:spPr>
          <a:xfrm>
            <a:off x="11457432" y="6565392"/>
            <a:ext cx="640080" cy="256032"/>
          </a:xfrm>
          <a:prstGeom prst="rect">
            <a:avLst/>
          </a:prstGeom>
          <a:noFill/>
        </p:spPr>
        <p:txBody>
          <a:bodyPr wrap="square">
            <a:spAutoFit/>
          </a:bodyPr>
          <a:lstStyle/>
          <a:p>
            <a:pPr algn="r"/>
            <a:r>
              <a:rPr sz="900" b="0" i="0">
                <a:solidFill>
                  <a:srgbClr val="1E3A5F"/>
                </a:solidFil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65836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109728"/>
            <a:ext cx="11183112" cy="502920"/>
          </a:xfrm>
          <a:prstGeom prst="rect">
            <a:avLst/>
          </a:prstGeom>
          <a:noFill/>
        </p:spPr>
        <p:txBody>
          <a:bodyPr wrap="square">
            <a:spAutoFit/>
          </a:bodyPr>
          <a:lstStyle/>
          <a:p>
            <a:pPr algn="l"/>
            <a:r>
              <a:rPr sz="2200" b="1" i="0">
                <a:solidFill>
                  <a:srgbClr val="C8A951"/>
                </a:solidFill>
              </a:rPr>
              <a:t>Federal-Ready, Audit-Ready</a:t>
            </a:r>
          </a:p>
        </p:txBody>
      </p:sp>
      <p:sp>
        <p:nvSpPr>
          <p:cNvPr id="5" name="Rectangle 4"/>
          <p:cNvSpPr/>
          <p:nvPr/>
        </p:nvSpPr>
        <p:spPr>
          <a:xfrm>
            <a:off x="502920" y="658368"/>
            <a:ext cx="11183112" cy="36576"/>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9456" y="777240"/>
            <a:ext cx="6150711" cy="5120640"/>
          </a:xfrm>
          <a:prstGeom prst="rect">
            <a:avLst/>
          </a:prstGeom>
          <a:noFill/>
        </p:spPr>
        <p:txBody>
          <a:bodyPr wrap="square">
            <a:spAutoFit/>
          </a:bodyPr>
          <a:lstStyle/>
          <a:p>
            <a:pPr algn="l">
              <a:spcBef>
                <a:spcPts val="0"/>
              </a:spcBef>
            </a:pPr>
            <a:r>
              <a:rPr sz="1600">
                <a:solidFill>
                  <a:srgbClr val="FFFFFF"/>
                </a:solidFill>
              </a:rPr>
              <a:t>▸  Frameworks: FedRAMP, CMMC, NIST 800-53, FIPS 199/200, NSA ZIG, OMB M-25-21, NIST AI 600-1, GAO-21-519SP, OWASP Agentic</a:t>
            </a:r>
          </a:p>
          <a:p>
            <a:pPr algn="l">
              <a:spcBef>
                <a:spcPts val="600"/>
              </a:spcBef>
            </a:pPr>
            <a:r>
              <a:rPr sz="1600">
                <a:solidFill>
                  <a:srgbClr val="E0E6F0"/>
                </a:solidFill>
              </a:rPr>
              <a:t>▸  cATO continuous monitoring — every 6 hours, not every 18 months</a:t>
            </a:r>
          </a:p>
          <a:p>
            <a:pPr algn="l">
              <a:spcBef>
                <a:spcPts val="600"/>
              </a:spcBef>
            </a:pPr>
            <a:r>
              <a:rPr sz="1600">
                <a:solidFill>
                  <a:srgbClr val="E0E6F0"/>
                </a:solidFill>
              </a:rPr>
              <a:t>▸  SBOM (Software Bill of Materials) on every build — every component accounted for</a:t>
            </a:r>
          </a:p>
          <a:p>
            <a:pPr algn="l">
              <a:spcBef>
                <a:spcPts val="600"/>
              </a:spcBef>
            </a:pPr>
            <a:r>
              <a:rPr sz="1600">
                <a:solidFill>
                  <a:srgbClr val="E0E6F0"/>
                </a:solidFill>
              </a:rPr>
              <a:t>▸  Air-gap deployable — classified, on-prem, disconnected</a:t>
            </a:r>
          </a:p>
          <a:p>
            <a:pPr algn="l">
              <a:spcBef>
                <a:spcPts val="600"/>
              </a:spcBef>
            </a:pPr>
            <a:r>
              <a:rPr sz="1600">
                <a:solidFill>
                  <a:srgbClr val="E0E6F0"/>
                </a:solidFill>
              </a:rPr>
              <a:t>▸  Audit trail append-only per NIST AU — tamper-proof by design</a:t>
            </a:r>
          </a:p>
        </p:txBody>
      </p:sp>
      <p:pic>
        <p:nvPicPr>
          <p:cNvPr id="7" name="Picture 6" descr="deck_curated_zig.png"/>
          <p:cNvPicPr>
            <a:picLocks noChangeAspect="1"/>
          </p:cNvPicPr>
          <p:nvPr/>
        </p:nvPicPr>
        <p:blipFill>
          <a:blip r:embed="rId2"/>
          <a:stretch>
            <a:fillRect/>
          </a:stretch>
        </p:blipFill>
        <p:spPr>
          <a:xfrm>
            <a:off x="6790791" y="777240"/>
            <a:ext cx="4940960" cy="5120640"/>
          </a:xfrm>
          <a:prstGeom prst="rect">
            <a:avLst/>
          </a:prstGeom>
        </p:spPr>
      </p:pic>
      <p:sp>
        <p:nvSpPr>
          <p:cNvPr id="8" name="TextBox 7"/>
          <p:cNvSpPr txBox="1"/>
          <p:nvPr/>
        </p:nvSpPr>
        <p:spPr>
          <a:xfrm>
            <a:off x="502920" y="6565392"/>
            <a:ext cx="10634472" cy="256032"/>
          </a:xfrm>
          <a:prstGeom prst="rect">
            <a:avLst/>
          </a:prstGeom>
          <a:noFill/>
        </p:spPr>
        <p:txBody>
          <a:bodyPr wrap="square">
            <a:spAutoFit/>
          </a:bodyPr>
          <a:lstStyle/>
          <a:p>
            <a:pPr algn="l"/>
            <a:r>
              <a:rPr sz="800" b="0" i="0">
                <a:solidFill>
                  <a:srgbClr val="1E3A5F"/>
                </a:solidFill>
              </a:rPr>
              <a:t>ICDEV™  ·  A System That Builds Systems</a:t>
            </a:r>
          </a:p>
        </p:txBody>
      </p:sp>
      <p:sp>
        <p:nvSpPr>
          <p:cNvPr id="9" name="TextBox 8"/>
          <p:cNvSpPr txBox="1"/>
          <p:nvPr/>
        </p:nvSpPr>
        <p:spPr>
          <a:xfrm>
            <a:off x="11457432" y="6565392"/>
            <a:ext cx="640080" cy="256032"/>
          </a:xfrm>
          <a:prstGeom prst="rect">
            <a:avLst/>
          </a:prstGeom>
          <a:noFill/>
        </p:spPr>
        <p:txBody>
          <a:bodyPr wrap="square">
            <a:spAutoFit/>
          </a:bodyPr>
          <a:lstStyle/>
          <a:p>
            <a:pPr algn="r"/>
            <a:r>
              <a:rPr sz="900" b="0" i="0">
                <a:solidFill>
                  <a:srgbClr val="1E3A5F"/>
                </a:solidFil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65836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9456" y="109728"/>
            <a:ext cx="11183112" cy="502920"/>
          </a:xfrm>
          <a:prstGeom prst="rect">
            <a:avLst/>
          </a:prstGeom>
          <a:noFill/>
        </p:spPr>
        <p:txBody>
          <a:bodyPr wrap="square">
            <a:spAutoFit/>
          </a:bodyPr>
          <a:lstStyle/>
          <a:p>
            <a:pPr algn="l"/>
            <a:r>
              <a:rPr sz="2200" b="1" i="0">
                <a:solidFill>
                  <a:srgbClr val="C8A951"/>
                </a:solidFill>
              </a:rPr>
              <a:t>Three Ways to Engage</a:t>
            </a:r>
          </a:p>
        </p:txBody>
      </p:sp>
      <p:sp>
        <p:nvSpPr>
          <p:cNvPr id="5" name="Rectangle 4"/>
          <p:cNvSpPr/>
          <p:nvPr/>
        </p:nvSpPr>
        <p:spPr>
          <a:xfrm>
            <a:off x="502920" y="658368"/>
            <a:ext cx="11183112" cy="36576"/>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9456" y="777240"/>
            <a:ext cx="11183112" cy="5120640"/>
          </a:xfrm>
          <a:prstGeom prst="rect">
            <a:avLst/>
          </a:prstGeom>
          <a:noFill/>
        </p:spPr>
        <p:txBody>
          <a:bodyPr wrap="square">
            <a:spAutoFit/>
          </a:bodyPr>
          <a:lstStyle/>
          <a:p>
            <a:pPr algn="l">
              <a:spcBef>
                <a:spcPts val="0"/>
              </a:spcBef>
            </a:pPr>
            <a:r>
              <a:rPr sz="1600">
                <a:solidFill>
                  <a:srgbClr val="FFFFFF"/>
                </a:solidFill>
              </a:rPr>
              <a:t>▸  1. Book a live demo on your data — 30 minutes, your RFP, your ATO</a:t>
            </a:r>
          </a:p>
          <a:p>
            <a:pPr algn="l">
              <a:spcBef>
                <a:spcPts val="600"/>
              </a:spcBef>
            </a:pPr>
            <a:r>
              <a:rPr sz="1600">
                <a:solidFill>
                  <a:srgbClr val="E0E6F0"/>
                </a:solidFill>
              </a:rPr>
              <a:t>▸  2. Pilot on a single RFP or ATO — 60 days, fixed scope, fixed price</a:t>
            </a:r>
          </a:p>
          <a:p>
            <a:pPr algn="l">
              <a:spcBef>
                <a:spcPts val="600"/>
              </a:spcBef>
            </a:pPr>
            <a:r>
              <a:rPr sz="1600">
                <a:solidFill>
                  <a:srgbClr val="E0E6F0"/>
                </a:solidFill>
              </a:rPr>
              <a:t>▸  3. Stand up ICDEV in your environment — cloud, on-prem, or air-gap</a:t>
            </a:r>
          </a:p>
        </p:txBody>
      </p:sp>
      <p:sp>
        <p:nvSpPr>
          <p:cNvPr id="7" name="TextBox 6"/>
          <p:cNvSpPr txBox="1"/>
          <p:nvPr/>
        </p:nvSpPr>
        <p:spPr>
          <a:xfrm>
            <a:off x="502920" y="6565392"/>
            <a:ext cx="10634472" cy="256032"/>
          </a:xfrm>
          <a:prstGeom prst="rect">
            <a:avLst/>
          </a:prstGeom>
          <a:noFill/>
        </p:spPr>
        <p:txBody>
          <a:bodyPr wrap="square">
            <a:spAutoFit/>
          </a:bodyPr>
          <a:lstStyle/>
          <a:p>
            <a:pPr algn="l"/>
            <a:r>
              <a:rPr sz="800" b="0" i="0">
                <a:solidFill>
                  <a:srgbClr val="1E3A5F"/>
                </a:solidFill>
              </a:rPr>
              <a:t>ICDEV™  ·  A System That Builds Systems</a:t>
            </a:r>
          </a:p>
        </p:txBody>
      </p:sp>
      <p:sp>
        <p:nvSpPr>
          <p:cNvPr id="8" name="TextBox 7"/>
          <p:cNvSpPr txBox="1"/>
          <p:nvPr/>
        </p:nvSpPr>
        <p:spPr>
          <a:xfrm>
            <a:off x="11457432" y="6565392"/>
            <a:ext cx="640080" cy="256032"/>
          </a:xfrm>
          <a:prstGeom prst="rect">
            <a:avLst/>
          </a:prstGeom>
          <a:noFill/>
        </p:spPr>
        <p:txBody>
          <a:bodyPr wrap="square">
            <a:spAutoFit/>
          </a:bodyPr>
          <a:lstStyle/>
          <a:p>
            <a:pPr algn="r"/>
            <a:r>
              <a:rPr sz="900" b="0" i="0">
                <a:solidFill>
                  <a:srgbClr val="1E3A5F"/>
                </a:solidFil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88952" cy="91440"/>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0"/>
            <a:ext cx="11183112" cy="1371600"/>
          </a:xfrm>
          <a:prstGeom prst="rect">
            <a:avLst/>
          </a:prstGeom>
          <a:noFill/>
        </p:spPr>
        <p:txBody>
          <a:bodyPr wrap="square">
            <a:spAutoFit/>
          </a:bodyPr>
          <a:lstStyle/>
          <a:p>
            <a:pPr algn="ctr"/>
            <a:r>
              <a:rPr sz="4000" b="1" i="0">
                <a:solidFill>
                  <a:srgbClr val="C8A951"/>
                </a:solidFill>
              </a:rPr>
              <a:t>ICDEV™ — Let's Build the Future of Federal Software</a:t>
            </a:r>
          </a:p>
        </p:txBody>
      </p:sp>
      <p:sp>
        <p:nvSpPr>
          <p:cNvPr id="5" name="Rectangle 4"/>
          <p:cNvSpPr/>
          <p:nvPr/>
        </p:nvSpPr>
        <p:spPr>
          <a:xfrm>
            <a:off x="3474720" y="2560320"/>
            <a:ext cx="5239512" cy="27432"/>
          </a:xfrm>
          <a:prstGeom prst="rect">
            <a:avLst/>
          </a:prstGeom>
          <a:solidFill>
            <a:srgbClr val="C8A9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743200"/>
            <a:ext cx="11183112" cy="502920"/>
          </a:xfrm>
          <a:prstGeom prst="rect">
            <a:avLst/>
          </a:prstGeom>
          <a:noFill/>
        </p:spPr>
        <p:txBody>
          <a:bodyPr wrap="square">
            <a:spAutoFit/>
          </a:bodyPr>
          <a:lstStyle/>
          <a:p>
            <a:pPr algn="ctr"/>
            <a:r>
              <a:rPr sz="1600" b="0" i="0">
                <a:solidFill>
                  <a:srgbClr val="E0E6F0"/>
                </a:solidFill>
              </a:rPr>
              <a:t>Book a 30-minute demo — hello@icdev.ai — icdev.ai</a:t>
            </a:r>
          </a:p>
        </p:txBody>
      </p:sp>
      <p:sp>
        <p:nvSpPr>
          <p:cNvPr id="7" name="TextBox 6"/>
          <p:cNvSpPr txBox="1"/>
          <p:nvPr/>
        </p:nvSpPr>
        <p:spPr>
          <a:xfrm>
            <a:off x="502920" y="3383280"/>
            <a:ext cx="11183112" cy="502920"/>
          </a:xfrm>
          <a:prstGeom prst="rect">
            <a:avLst/>
          </a:prstGeom>
          <a:noFill/>
        </p:spPr>
        <p:txBody>
          <a:bodyPr wrap="square">
            <a:spAutoFit/>
          </a:bodyPr>
          <a:lstStyle/>
          <a:p>
            <a:pPr algn="ctr"/>
            <a:r>
              <a:rPr sz="1600" b="0" i="0">
                <a:solidFill>
                  <a:srgbClr val="E0E6F0"/>
                </a:solidFill>
              </a:rPr>
              <a:t>Federal software delivery doesn't have to be slow, expensive, or risky.</a:t>
            </a:r>
          </a:p>
        </p:txBody>
      </p:sp>
      <p:sp>
        <p:nvSpPr>
          <p:cNvPr id="8" name="TextBox 7"/>
          <p:cNvSpPr txBox="1"/>
          <p:nvPr/>
        </p:nvSpPr>
        <p:spPr>
          <a:xfrm>
            <a:off x="502920" y="4023360"/>
            <a:ext cx="11183112" cy="502920"/>
          </a:xfrm>
          <a:prstGeom prst="rect">
            <a:avLst/>
          </a:prstGeom>
          <a:noFill/>
        </p:spPr>
        <p:txBody>
          <a:bodyPr wrap="square">
            <a:spAutoFit/>
          </a:bodyPr>
          <a:lstStyle/>
          <a:p>
            <a:pPr algn="ctr"/>
            <a:r>
              <a:rPr sz="1600" b="0" i="0">
                <a:solidFill>
                  <a:srgbClr val="E0E6F0"/>
                </a:solidFill>
              </a:rPr>
              <a:t>ICDEV is the system that builds the systems.</a:t>
            </a:r>
          </a:p>
        </p:txBody>
      </p:sp>
      <p:sp>
        <p:nvSpPr>
          <p:cNvPr id="9" name="TextBox 8"/>
          <p:cNvSpPr txBox="1"/>
          <p:nvPr/>
        </p:nvSpPr>
        <p:spPr>
          <a:xfrm>
            <a:off x="502920" y="6565392"/>
            <a:ext cx="10634472" cy="256032"/>
          </a:xfrm>
          <a:prstGeom prst="rect">
            <a:avLst/>
          </a:prstGeom>
          <a:noFill/>
        </p:spPr>
        <p:txBody>
          <a:bodyPr wrap="square">
            <a:spAutoFit/>
          </a:bodyPr>
          <a:lstStyle/>
          <a:p>
            <a:pPr algn="l"/>
            <a:r>
              <a:rPr sz="800" b="0" i="0">
                <a:solidFill>
                  <a:srgbClr val="1E3A5F"/>
                </a:solidFill>
              </a:rPr>
              <a:t>ICDEV™  ·  A System That Builds Systems</a:t>
            </a:r>
          </a:p>
        </p:txBody>
      </p:sp>
      <p:sp>
        <p:nvSpPr>
          <p:cNvPr id="10" name="TextBox 9"/>
          <p:cNvSpPr txBox="1"/>
          <p:nvPr/>
        </p:nvSpPr>
        <p:spPr>
          <a:xfrm>
            <a:off x="11457432" y="6565392"/>
            <a:ext cx="640080" cy="256032"/>
          </a:xfrm>
          <a:prstGeom prst="rect">
            <a:avLst/>
          </a:prstGeom>
          <a:noFill/>
        </p:spPr>
        <p:txBody>
          <a:bodyPr wrap="square">
            <a:spAutoFit/>
          </a:bodyPr>
          <a:lstStyle/>
          <a:p>
            <a:pPr algn="r"/>
            <a:r>
              <a:rPr sz="900" b="0" i="0">
                <a:solidFill>
                  <a:srgbClr val="1E3A5F"/>
                </a:solidFill>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
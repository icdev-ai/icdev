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831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C8A951"/>
                </a:solidFill>
              </a:rPr>
              <a:t>ICDEV™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AI Lab That Builds AI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0E6F0"/>
                </a:solidFill>
              </a:rPr>
              <a:t>Adopt vs. Build  ·  Executive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703320"/>
            <a:ext cx="5788152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22366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42 Compliance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9542" y="3794760"/>
            <a:ext cx="22366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15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164" y="3794760"/>
            <a:ext cx="22366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12 Design Canvases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2787" y="3794760"/>
            <a:ext cx="22366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530+ Deterministic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9409" y="3794760"/>
            <a:ext cx="22366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IL4+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8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May 2026  ·  CONFIDENTIAL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The Problem Every Government Program 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118311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65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951"/>
                </a:solidFill>
              </a:rPr>
              <a:t>⏱  12–18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50007"/>
            <a:ext cx="10853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Programs spend over a year and millions of dollars before writing a single line of production code — just to get an Authority to Operate (ATO).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46119"/>
            <a:ext cx="1118311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375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951"/>
                </a:solidFill>
              </a:rPr>
              <a:t>🔒  Compliance Discovered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721607"/>
            <a:ext cx="10853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Security and compliance are identified after development — forcing costly redesigns, missed deadlines, and emergency POAM entries that follow the system for its entire lifecycle.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17719"/>
            <a:ext cx="1118311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091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951"/>
                </a:solidFill>
              </a:rPr>
              <a:t>🧠  Expert Bottlenecks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093207"/>
            <a:ext cx="10853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One ISSO. One security architect. One CI/CD engineer. Any one of them on leave or departed can stall an entire program. Knowledge lives in people, not in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A951"/>
                </a:solidFill>
              </a:rPr>
              <a:t>These are not edge cases. They are the default experience for government software programs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The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Build from scratch — or adopt a platform that's already solved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3035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Build 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12–18 months before first 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Compliance mapped after the code is 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826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Expert knowledge locked in individuals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66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Each new system = new ATO from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No crosswalk between frameworks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Legacy modernization effectively impossible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18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✗  No AI governance built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920240"/>
            <a:ext cx="53035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Adopt ICDEV™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ATO in 1–3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98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Compliance automated on first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826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15 AI agents replace expert dependency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66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42-framework crosswalk — implement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50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Living applications that self-improve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7Rs modernization pipeline built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818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✓  OMB M-25-21 · NIST AI RMF baked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What is ICDEV™?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Intelligent Certified Development — a meta-builder for government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951"/>
                </a:solidFill>
              </a:rPr>
              <a:t>Plain English Requirements  →  ATO-Ready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0E6F0"/>
                </a:solidFill>
              </a:rPr>
              <a:t>"One developer built ICDEV™.  Imagine what your team could do."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71800"/>
            <a:ext cx="177241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7724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17724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Compliance
Frameworks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6772" y="2971800"/>
            <a:ext cx="177241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6772" y="3200400"/>
            <a:ext cx="17724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6772" y="4023360"/>
            <a:ext cx="17724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AI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2971800"/>
            <a:ext cx="177241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0624" y="3200400"/>
            <a:ext cx="17724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0624" y="4023360"/>
            <a:ext cx="17724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Design
Canvases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2971800"/>
            <a:ext cx="177241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3200400"/>
            <a:ext cx="17724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530+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4023360"/>
            <a:ext cx="17724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Deterministic
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8328" y="2971800"/>
            <a:ext cx="177241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8328" y="3200400"/>
            <a:ext cx="17724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588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8328" y="4023360"/>
            <a:ext cx="17724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Database
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2180" y="2971800"/>
            <a:ext cx="177241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2180" y="3200400"/>
            <a:ext cx="17724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2180" y="4023360"/>
            <a:ext cx="17724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Supported
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FORGE Framework  ·  ANVIL Workflow  ·  Apache 2.0  ·  AWS GovCloud  ·  IL4+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The FORGE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Six layers that separate probabilistic AI reasoning from deterministic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7907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79"/>
            <a:ext cx="1790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32887"/>
            <a:ext cx="160782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624327"/>
            <a:ext cx="16443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Process definitions
What to achieve,
which tools, 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6772" y="1874519"/>
            <a:ext cx="17907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6772" y="2011679"/>
            <a:ext cx="1790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8212" y="2532887"/>
            <a:ext cx="160782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9924" y="2624327"/>
            <a:ext cx="16443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AI reasoning layer
Claude decides order,
handles errors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874519"/>
            <a:ext cx="17907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0624" y="2011679"/>
            <a:ext cx="1790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2064" y="2532887"/>
            <a:ext cx="160782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3776" y="2624327"/>
            <a:ext cx="16443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530+ Python scripts
One job each
Deterministic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1874519"/>
            <a:ext cx="17907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4476" y="2011679"/>
            <a:ext cx="1790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Args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5916" y="2532887"/>
            <a:ext cx="160782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7628" y="2624327"/>
            <a:ext cx="16443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YAML/JSON config
Change behavior
without editing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8328" y="1874519"/>
            <a:ext cx="17907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8328" y="2011679"/>
            <a:ext cx="1790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9768" y="2532887"/>
            <a:ext cx="160782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1480" y="2624327"/>
            <a:ext cx="16443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Static reference
Compliance catalogs
Tone 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2180" y="1874519"/>
            <a:ext cx="17907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2180" y="2011679"/>
            <a:ext cx="1790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Hard Prompts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13620" y="2532887"/>
            <a:ext cx="160782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5332" y="2624327"/>
            <a:ext cx="16443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Reusable LLM
instruction
templates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63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951"/>
                </a:solidFill>
              </a:rPr>
              <a:t>Why It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LLMs are probabilistic. At 90% accuracy per step, a 5-step workflow degrades to ~59% end-to-end (0.9⁵). FORGE confines AI reasoning to orchestration only — all execution is deterministic Python. Result: &gt;95% reliable, auditable, air-gap-safe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The ANVIL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Five-phase TDD cycle — every feature, every time, with compliance baked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98059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84247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C1"/>
                </a:solidFill>
              </a:rPr>
              <a:t>Architect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51759"/>
            <a:ext cx="179771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770631"/>
            <a:ext cx="183428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Design &amp; acceptance
criteria. System
architecture defined.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3510" y="315467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3550" y="1874519"/>
            <a:ext cx="198059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3550" y="1984247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6C1"/>
                </a:solidFill>
              </a:rPr>
              <a:t>Navigate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4990" y="2651759"/>
            <a:ext cx="179771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6702" y="2770631"/>
            <a:ext cx="183428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Map to existing tools
and patterns. No
new code without cause.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4140" y="315467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4180" y="1874519"/>
            <a:ext cx="198059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4180" y="1984247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95620" y="2651759"/>
            <a:ext cx="179771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7332" y="2770631"/>
            <a:ext cx="183428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Write failing tests
first. RED phase.
Spec is the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4771" y="315467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4811" y="1874519"/>
            <a:ext cx="198059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4811" y="1984247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Integrate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6251" y="2651759"/>
            <a:ext cx="179771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7963" y="2770631"/>
            <a:ext cx="183428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Generate implementation.
GREEN phase. Tests
must pass.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5401" y="315467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05441" y="1874519"/>
            <a:ext cx="198059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5441" y="1984247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A951"/>
                </a:solidFill>
              </a:rPr>
              <a:t>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96881" y="2651759"/>
            <a:ext cx="1797710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8593" y="2770631"/>
            <a:ext cx="183428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Refactor, security scan,
compliance map,
merge to main.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07492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Compliance baked in at every phase — not bolted on after.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3212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6F0"/>
                </a:solidFill>
              </a:rPr>
              <a:t>Every ANVIL run produces: working code · passing tests · SBOM · compliance evidence · security scan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12 Design Canvases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Design visually. Query naturally. Comply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47671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NDC  ·  Network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19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Cloud topology, FedRAMP/IL/CMMC mapping, COTS cost modeling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2988" y="1874519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4428" y="1947671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SDC  ·  Security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4428" y="2331719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STRIDE threat modeling, MITRE ATT&amp;CK, SSP/POAM generator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874519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947671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PDC  ·  Pipeline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31719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Visual CI/CD builder, SLSA assessment, OWASP 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3124" y="1874519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4564" y="1947671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BDC  ·  Boundary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4564" y="2331719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ATO boundary, ISA lifecycle, PPS matrix auto-generation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72967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46119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DDC  ·  Data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30167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Data classification zones, PII/PHI/CUI tracking, lineage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2988" y="3172967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4428" y="3246119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ODC  ·  Observability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4428" y="3630167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Detection coverage, Sigma rules, MITRE ATT&amp;CK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3172967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3246119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IDC  ·  Infrastructure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3630167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IaC resource design, 6 CSPs, Terraform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93124" y="3172967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4564" y="3246119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AADC  ·  Agentic AI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564" y="3630167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7 solution packs, 40+ node types, AI risk register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71415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544567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QDC  ·  Quality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28615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Code quality gates, UQS scoring, NIST SA-11 mapping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2988" y="4471415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4428" y="4544567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MDC  ·  Migration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4428" y="4928615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7R assessment, strangler fig mapping, ATO bridge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4471415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4544567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AIMC  ·  AI/ML Model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4928615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Foundation model catalog, DoD RAI compliance, IL assessment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93124" y="4471415"/>
            <a:ext cx="26929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84564" y="4544567"/>
            <a:ext cx="2510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MSN  ·  Mission Canvas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4564" y="4928615"/>
            <a:ext cx="25100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Strategic mission planning, operational design, COA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9904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All 12 canvases: Natural-language IQE queries · Knowledge graph indexing · Air-gap safe · No CDN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Unified Chat — ICDEV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Not a chatbot. A structured intake engine with AI governance baked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5603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2968" y="1874519"/>
            <a:ext cx="493776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0456" y="1874519"/>
            <a:ext cx="329184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659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Contexts + 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+ New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19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▸ General Modernization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▸ Budget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1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▸ Doc 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7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▸ Custom Context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62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▸ Custom Context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19659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Message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377439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951"/>
                </a:solidFill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578607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What's the migration path for our legacy COBOL system?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3063239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</a:rPr>
              <a:t>ICDEV™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3264407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Based on your inventory, I recommend a Replatform strategy (R4)...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3749039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951"/>
                </a:solidFill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950207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What does that mean for our current ATO?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4434839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</a:rPr>
              <a:t>ICDEV™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4636007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I've pre-loaded 12 ATO bridge requirements. Readiness: 73%.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5029199"/>
            <a:ext cx="47548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07491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Send a message...  [↑ Send]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196595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RICOAS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377439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Readiness Score: 73 /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706623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Completeness: ✓ 8/12 reqs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035807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Clarity: ✓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3364991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Compliance: ⚠ ATO Bridge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694175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AI Governance: ✓ 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4023359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──────────────────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352543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AI Governance Pillars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681727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Transparency: 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5010911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Accountability: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5340095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Fairness: ⚠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623560"/>
            <a:ext cx="3636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951"/>
                </a:solidFill>
              </a:rPr>
              <a:t>Typed Contexts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79592"/>
            <a:ext cx="3636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Every chat carries project metadata, use case, and compliance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0624" y="5623560"/>
            <a:ext cx="3636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951"/>
                </a:solidFill>
              </a:rPr>
              <a:t>AI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0624" y="5879592"/>
            <a:ext cx="3636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6-pillar posture sidebar: Transparency, Accountability, Fairness, Safety, XAI, Privacy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8328" y="5623560"/>
            <a:ext cx="3636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951"/>
                </a:solidFill>
              </a:rPr>
              <a:t>Intervention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8328" y="5879592"/>
            <a:ext cx="3636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Operator injects mid-stream directions to guide the agent during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Pre-Built Use Cases — Start in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Expert AI personas, pre-loaded requirements, and canvas wiring — out of the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66744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65959"/>
            <a:ext cx="3447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⚙  General Modernization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41447"/>
            <a:ext cx="3447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A951"/>
                </a:solidFill>
              </a:rPr>
              <a:t>BADGE: AI Boost  ·  12 Pre-Loaded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43199"/>
            <a:ext cx="3447288" cy="1828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834639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7Rs framework (Retire → Re-architect)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236975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Asset inventory + migration phasing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39311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ATO continuity bridge maintained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041647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Canvas wiring: Migration, Digital Twin,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443983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  Supply Chain,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846319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Output: phased migration plan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248655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  rollback runbooks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1874519"/>
            <a:ext cx="3666744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1965959"/>
            <a:ext cx="3447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$  Year-End Budget 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441447"/>
            <a:ext cx="3447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A951"/>
                </a:solidFill>
              </a:rPr>
              <a:t>BADGE: RICOAS  ·  14 Pre-Loaded 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2743199"/>
            <a:ext cx="3447288" cy="1828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2" y="2834639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"Spend it or lose it" 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3236975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BOM + IGCE + SOW generated in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639311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Tier 1 (execution-ready) vs Tier 2 (backup)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041647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FAR/DFARS + NDAA §889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4443983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Canvas wiring: CPMP, Digital Twin,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846319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  Supply Chain, Kanban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5248655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Output: CSV/XLSX BOM with lead times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1874519"/>
            <a:ext cx="3666744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6" y="1965959"/>
            <a:ext cx="3447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📄  Crowd-Sourced Doc Refresh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441447"/>
            <a:ext cx="3447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A951"/>
                </a:solidFill>
              </a:rPr>
              <a:t>BADGE: RAG + KG  ·  10 Pre-Loaded Requirements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9016" y="2743199"/>
            <a:ext cx="3447288" cy="1828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2834639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Staleness detection + crowd voting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3236975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AI rebuild with role-weighted 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9016" y="3639311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Immutable audit trail per NIST 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9016" y="4041647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Auto-indexed to Knowledge Graph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6" y="4443983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  within 24 hrs of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4846319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Canvas wiring: Knowledge, RAG,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9016" y="5248655"/>
            <a:ext cx="3447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•   Compliance,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199632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Add new use cases by editing args/use_cases.yaml — zero Python required. Auto-seeds RICOAS requirements and wires canvases.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Digital Program Twin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Simulate before you commit. Three Courses of Action. Confidence-banded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8257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965959"/>
            <a:ext cx="1716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377439"/>
            <a:ext cx="1716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Components, API surface,
coupling, data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4392" y="1874519"/>
            <a:ext cx="18257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9256" y="1965959"/>
            <a:ext cx="1716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9256" y="2377439"/>
            <a:ext cx="1716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Control coverage,
POAM projection, boundary 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5864" y="1874519"/>
            <a:ext cx="18257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0728" y="1965959"/>
            <a:ext cx="1716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Supply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728" y="2377439"/>
            <a:ext cx="1716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New dependencies,
vendor risk, SBOM delta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874519"/>
            <a:ext cx="18257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59"/>
            <a:ext cx="1716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77439"/>
            <a:ext cx="1716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PERT estimates,
Monte Carlo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8808" y="1874519"/>
            <a:ext cx="18257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3672" y="1965959"/>
            <a:ext cx="1716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3672" y="2377439"/>
            <a:ext cx="1716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T-shirt roll-up,
infrastructure delta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60280" y="1874519"/>
            <a:ext cx="18257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5144" y="1965959"/>
            <a:ext cx="1716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5144" y="2377439"/>
            <a:ext cx="1716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Compound score,
risk 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10712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951"/>
                </a:solidFill>
              </a:rPr>
              <a:t>Monte Carlo: 10,000 iterations  →  P10 (optimistic) / P50 (likely) / P80 (management reserve) / P90 (conservative)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40480"/>
            <a:ext cx="3636264" cy="1874519"/>
          </a:xfrm>
          <a:prstGeom prst="rect">
            <a:avLst/>
          </a:prstGeom>
          <a:solidFill>
            <a:srgbClr val="1E3A5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13632"/>
            <a:ext cx="345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Speed COA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4340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Timeline: 1–2 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6344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Cost: Lowest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98348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Risk: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03520"/>
            <a:ext cx="3453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0E6F0"/>
                </a:solidFill>
              </a:rPr>
              <a:t>P1 only. Fast. Technical debt.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0624" y="3840480"/>
            <a:ext cx="3636264" cy="1874519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2064" y="3913632"/>
            <a:ext cx="345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Balanced COA 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2064" y="434340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Timeline: 2–3 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064" y="466344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Cost: 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2064" y="498348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Risk: MOD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2064" y="5303520"/>
            <a:ext cx="3453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0E6F0"/>
                </a:solidFill>
              </a:rPr>
              <a:t>P1+P2. Recommended. Best tradeoff.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8328" y="3840480"/>
            <a:ext cx="3636264" cy="1874519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9768" y="3913632"/>
            <a:ext cx="345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E6F0"/>
                </a:solidFill>
              </a:rPr>
              <a:t>Comprehensive COA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9768" y="434340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Timeline: 3–5 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9768" y="466344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Cost: Highest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9768" y="4983480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Risk: 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9768" y="5303520"/>
            <a:ext cx="3453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0E6F0"/>
                </a:solidFill>
              </a:rPr>
              <a:t>Full scope. Complete coverage.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89788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A951"/>
                </a:solidFill>
              </a:rPr>
              <a:t>No commercial vendor offers program-level Digital Twin semantics with NIST/FedRAMP verdicts. ICDEV does.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42-Framework Compliance Superpower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Implement once. Satisfy many. Dual-hub crosswalk eliminates duplicate assessments.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A951"/>
                </a:solidFill>
              </a:rPr>
              <a:t>Implement AC-2 (Account Management) once → automatically satisfies 30+ frameworks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36576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US HUB — NIST 800-53 Rev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FedRAMP (Mod/High/20x)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45643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CMMC Level 2 &amp;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73989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NIST 800-171 Rev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02336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FIPS 199/200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306824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CNSSI 1253 (IL6)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590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DoD CSSP (DI 8530.01)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87375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DoD MOSA (10 U.S.C. §4401)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15721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NIST SP 800-207 Zero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A951"/>
                </a:solidFill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43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951"/>
                </a:solidFill>
              </a:rPr>
              <a:t>Crosswalk
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606040"/>
            <a:ext cx="36576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697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INTL HUB — ISO/IEC 27001:2022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ISO/IEC 42001:2023 (AI Mgmt)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345643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EU AI Act (Annex III)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373989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HIPAA Security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402336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HITRUST CSF v11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4306824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PCI DSS v4.0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4590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SOC 2 Type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487375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CJIS Security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515721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✓  NIST AI RMF 1.0 + AI 600-1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87568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A951"/>
                </a:solidFill>
              </a:rPr>
              <a:t>ATO in 1–3 months.  Not 12–18.  SSP, POAM, STIG, SBOM, OSCAL generated automatically on first build.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15-Agent Autonomous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Agents coordinate so your team doesn't have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118311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CORE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01952"/>
            <a:ext cx="4585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951"/>
                </a:solidFill>
              </a:rPr>
              <a:t>Orchestrator :8443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94560"/>
            <a:ext cx="45857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Task routing, DAG execution, dispatcher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716" y="1901952"/>
            <a:ext cx="4585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951"/>
                </a:solidFill>
              </a:rPr>
              <a:t>Architect :8444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1716" y="2194560"/>
            <a:ext cx="45857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ANVIL A/T phases, system design, M-ANVIL for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11183112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70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DOMAIN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Builder :8445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TDD code gen — 6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2359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Compliance :8446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2359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ATO: SSP, POAM, STIG, SBOM, OSCAL, eMASS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438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Security :8447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4438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SAST, deps, secrets, containers, ATLAS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6517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Infrastructure :8448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6517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Terraform, Ansible, K8s, 6 CSPs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8597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MBSE :8451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8597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SysML, DOORS NG, digital thread, 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0676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Modernization :8452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0676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7R assessment, migration, code 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2755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Requirements :8453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2755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Intake, gap detection, SAFe,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4834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Supply Chain :8454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4834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SBOM, CVE triage, SCRM, §889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6914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Simulation :8455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6914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Digital Twin, Monte Carlo, COA 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993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DevSecOps+ZTA :8457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8993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Pipeline security, NIST 800-207, policy-as-code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1072" y="2770632"/>
            <a:ext cx="79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Gateway :8458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1072" y="3063240"/>
            <a:ext cx="7963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Remote commands, 8-gate security chain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715000"/>
            <a:ext cx="1118311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788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SUPPORT TIER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788152"/>
            <a:ext cx="4585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</a:rPr>
              <a:t>Knowledge :8449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6080760"/>
            <a:ext cx="45857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Self-healing patterns, ML 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1716" y="5788152"/>
            <a:ext cx="4585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</a:rPr>
              <a:t>Monitor :8450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1716" y="6080760"/>
            <a:ext cx="45857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E6F0"/>
                </a:solidFill>
              </a:rPr>
              <a:t>Logs, metrics, alerts, SLA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779008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A2A protocol: JSON-RPC 2.0 over mutual TLS  ·  All agents publish /.well-known/agent.json  ·  Self-healing daemon: 30-min failure triage  ·  Confidence ≥ 0.7 required for auto-patch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FORGE Academy — Building AI-Ready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Gamified, role-based AI training designed for government and defense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14518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14518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951"/>
                </a:solidFill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14518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Role Tracks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9542" y="1874519"/>
            <a:ext cx="214518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9542" y="1920240"/>
            <a:ext cx="214518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951"/>
                </a:solidFill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9542" y="2423160"/>
            <a:ext cx="214518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Missions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6164" y="1874519"/>
            <a:ext cx="214518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6164" y="1920240"/>
            <a:ext cx="214518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951"/>
                </a:solidFill>
              </a:rPr>
              <a:t>165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6164" y="2423160"/>
            <a:ext cx="214518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Mission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2787" y="1874519"/>
            <a:ext cx="214518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2787" y="1920240"/>
            <a:ext cx="214518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951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2787" y="2423160"/>
            <a:ext cx="214518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Ranks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9409" y="1874519"/>
            <a:ext cx="214518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9409" y="1920240"/>
            <a:ext cx="214518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951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9409" y="2423160"/>
            <a:ext cx="214518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Certifications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63240"/>
            <a:ext cx="212689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90672"/>
            <a:ext cx="21268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Recruit
0 XP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8102" y="32461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6974" y="3063240"/>
            <a:ext cx="212689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6974" y="3090672"/>
            <a:ext cx="21268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Operative
500 XP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2156" y="32461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1028" y="3063240"/>
            <a:ext cx="212689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1028" y="3090672"/>
            <a:ext cx="21268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86C1"/>
                </a:solidFill>
              </a:rPr>
              <a:t>Specialist
2,000 XP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6211" y="32461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5083" y="3063240"/>
            <a:ext cx="212689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5083" y="3090672"/>
            <a:ext cx="21268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CC71"/>
                </a:solidFill>
              </a:rPr>
              <a:t>Architect
5,000 XP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0265" y="32461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9137" y="3063240"/>
            <a:ext cx="212689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9137" y="3090672"/>
            <a:ext cx="21268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951"/>
                </a:solidFill>
              </a:rPr>
              <a:t>Sensei
10,000+ XP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886200"/>
            <a:ext cx="55001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Role Tracks (12)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DevOps · DataOps · SecOps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99432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SWE/Architect · NetOps · SRE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946904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ISSO · ISSM · CISO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294376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PM · Analyst · Leadership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5916" y="3886200"/>
            <a:ext cx="55001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Certifications + Alignment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5916" y="4251960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Foundation (2yr) — Tier 1 + role Tier 2 + 75%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5916" y="4599432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Practitioner (2yr) — AADC ≥80 + 1 GameDay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5916" y="4946904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Expert (3yr) — Capstone + top-50% GameDay finish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5916" y="5294376"/>
            <a:ext cx="55001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• DoD AI Workforce Framework + NICE KSA crosswalk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89788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A951"/>
                </a:solidFill>
              </a:rPr>
              <a:t>Auto-updating curriculum: Genesis daemon detects proven patterns → auto-generates new missions → human review → activated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AI GameDay — Where Training Meets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Live, AI-scored tabletop exercises. Competitive. NIST-compliant. After-action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727198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38528"/>
            <a:ext cx="25808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RED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04288"/>
            <a:ext cx="258089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A951"/>
                </a:solidFill>
              </a:rPr>
              <a:t>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06040"/>
            <a:ext cx="258089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Scout · Threat Analyst
Exploit Engineer
Red Orchestrator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1558" y="1874519"/>
            <a:ext cx="2727198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1938528"/>
            <a:ext cx="25808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BLUE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2304288"/>
            <a:ext cx="258089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A951"/>
                </a:solidFill>
              </a:rPr>
              <a:t>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2606040"/>
            <a:ext cx="258089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SOC Analyst · Security Arch
IR Responder
Blue 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1874519"/>
            <a:ext cx="2727198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3348" y="1938528"/>
            <a:ext cx="25808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951"/>
                </a:solidFill>
              </a:rPr>
              <a:t>GOLD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3348" y="2304288"/>
            <a:ext cx="258089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A951"/>
                </a:solidFill>
              </a:rPr>
              <a:t>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8" y="2606040"/>
            <a:ext cx="258089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Researcher · Builder
Evaluator
Gold Orchestrator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8834" y="1874519"/>
            <a:ext cx="2727198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1986" y="1938528"/>
            <a:ext cx="25808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GREEN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1986" y="2304288"/>
            <a:ext cx="258089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8A951"/>
                </a:solidFill>
              </a:rP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1986" y="2606040"/>
            <a:ext cx="258089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NIST Auditor · Risk Assessor
Policy Advisor
Green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49039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Operation CIPHER FORGE — 5 Injects (4 Hours Total)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2181758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279392"/>
            <a:ext cx="2035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Signal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626864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951"/>
                </a:solidFill>
              </a:rPr>
              <a:t>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892040"/>
            <a:ext cx="203545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SIGINT threat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39542" y="4206240"/>
            <a:ext cx="2181758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2694" y="4279392"/>
            <a:ext cx="2035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COA Posture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2694" y="4626864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951"/>
                </a:solidFill>
              </a:rPr>
              <a:t>40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2694" y="4892040"/>
            <a:ext cx="203545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Force posture recommendation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6164" y="4206240"/>
            <a:ext cx="2181758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9316" y="4279392"/>
            <a:ext cx="2035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Ransomware Cascade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9316" y="4626864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951"/>
                </a:solidFill>
              </a:rPr>
              <a:t>Seq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9316" y="4892040"/>
            <a:ext cx="203545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IR: contain, eradicate, 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12787" y="4206240"/>
            <a:ext cx="2181758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5939" y="4279392"/>
            <a:ext cx="2035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Fine-Tune Sprint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5939" y="4626864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951"/>
                </a:solidFill>
              </a:rPr>
              <a:t>Seq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5939" y="4892040"/>
            <a:ext cx="203545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ML: generate + evaluate training pairs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9409" y="4206240"/>
            <a:ext cx="2181758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2561" y="4279392"/>
            <a:ext cx="2035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War Council Brief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2561" y="4626864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951"/>
                </a:solidFill>
              </a:rPr>
              <a:t>Final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2561" y="4892040"/>
            <a:ext cx="203545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Executive synthesis of all learnings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577840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Scoring: Adversarial 40% · Innovation 25% · Compliance 20% · Training Pairs 15%  ·  AI-scored · Server-verified receipts · Leaderboard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9788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Output: Auto-generated AAR · Kanban debrief card · Fine-tune pairs → model improvement  ·  NIST AC-2, AU-2, SI-10 compliant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Build vs. Adopt — The Numbers Don't 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Nine dimensions. ICDEV wins on every axis.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28800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865376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Build From Scratch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828800"/>
            <a:ext cx="4370832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865376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951"/>
                </a:solidFill>
              </a:rPr>
              <a:t>Adopt ICDEV™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5856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ATO Timeline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221992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258568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12–18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221992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258568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1–3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15184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5176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615184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651760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Manual, post-hoc, incomplete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615184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651760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42 frameworks, auto-crosswalk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08376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04495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008376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3044952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None (hire specialists)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008376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044952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 coordinating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01568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43814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Digital Twin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401568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438144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Not available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3401568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438144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6-dim simulation, 3 COAs, Monte Carlo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794760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831336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794760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3831336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Build from scratch (months)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3794760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3831336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OMB M-25-21 + NIST AI RMF built 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187952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22452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Legacy Modernization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187952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4224528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No path. Greenfield only.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4187952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9480" y="4224528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7Rs + cross-language + ATO bridge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581144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61772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4581144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60" y="4617720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Manual / ad hoc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4581144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4617720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Append-only, NIST AU, day 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974336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01091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4974336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80360" y="5010912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Re-architect per program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4974336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69480" y="5010912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Generated apps inherit full FORGE/ANVIL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367528"/>
            <a:ext cx="22677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540410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5367528"/>
            <a:ext cx="4370832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360" y="5404104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$5M–10M+ to replicate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5367528"/>
            <a:ext cx="437083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69480" y="5404104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$570K–880K Year 1 (open-source base)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From Intake to ATO in 1–3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A single auditable pipeline — intake through Authority to Operate.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7876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103120"/>
            <a:ext cx="16779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RICOAS
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633472"/>
            <a:ext cx="16779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Requirements
gap detection
readiness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9716" y="260604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2012" y="2011680"/>
            <a:ext cx="17876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6876" y="2103120"/>
            <a:ext cx="16779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</a:rPr>
              <a:t>Digital
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6876" y="2633472"/>
            <a:ext cx="16779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6-dim simulation
3 COAs
Monte Carlo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60604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2011680"/>
            <a:ext cx="17876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2103120"/>
            <a:ext cx="16779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951"/>
                </a:solidFill>
              </a:rPr>
              <a:t>Design
Canvases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633472"/>
            <a:ext cx="16779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12 visual builders
NL queries
compliance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7900" y="260604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0196" y="2011680"/>
            <a:ext cx="17876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5060" y="2103120"/>
            <a:ext cx="16779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ANVIL
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5060" y="2633472"/>
            <a:ext cx="16779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TDD: RED→GREEN
Security scan
SBOM 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60604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9288" y="2011680"/>
            <a:ext cx="17876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2103120"/>
            <a:ext cx="16779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Compliance
Auto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633472"/>
            <a:ext cx="16779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42 frameworks
SSP+POAM+STIG
OSCAL+eMASS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6084" y="260604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8380" y="2011680"/>
            <a:ext cx="17876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53244" y="2103120"/>
            <a:ext cx="16779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951"/>
                </a:solidFill>
              </a:rPr>
              <a:t>Deploy
+ ATO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3244" y="2633472"/>
            <a:ext cx="16779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6F0"/>
                </a:solidFill>
              </a:rPr>
              <a:t>K8s + IaC
ATO package
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03320"/>
            <a:ext cx="5500116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49039"/>
            <a:ext cx="53172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Without ICDEV™:  12–18 months  ·  $2M–5M+  ·  Expert-dependent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5916" y="3703320"/>
            <a:ext cx="5500116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7356" y="3749039"/>
            <a:ext cx="53172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With ICDEV™:  1–3 months  ·  $570K–880K  ·  15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52628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Program Increment Timeline: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56048"/>
            <a:ext cx="363626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992624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F0"/>
                </a:solidFill>
              </a:rPr>
              <a:t>Speed 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266944"/>
            <a:ext cx="3453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1–2 PIs  ·  P1 only, MVP delivery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0624" y="4956048"/>
            <a:ext cx="363626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2064" y="4992624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Balanced COA  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2064" y="5266944"/>
            <a:ext cx="3453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2–3 PIs  ·  P1+P2, recommended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8328" y="4956048"/>
            <a:ext cx="363626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9768" y="4992624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6F0"/>
                </a:solidFill>
              </a:rPr>
              <a:t>Comprehensive COA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9768" y="5266944"/>
            <a:ext cx="3453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3–5 PIs  ·  Full scope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The AI Lab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A living lab that trains your people, hardens your systems, and accelerates every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7116" y="2103120"/>
            <a:ext cx="347472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6" y="2194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951"/>
                </a:solidFill>
              </a:rPr>
              <a:t>ICDEV™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6" y="27157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6F0"/>
                </a:solidFill>
              </a:rPr>
              <a:t>FORGE · ANVIL · 12 Canvases · 15 Agents
Chat + Use Cases · Digital Twin · 42 Frameworks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017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FORGE Academy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12 roles · 75 missions
4 cohorts × 25 devs
8 weeks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3017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AI GameDay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4 teams · 5 injects
Quarterly tournaments
AAR +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951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85632" y="1828800"/>
            <a:ext cx="3017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19202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Cloud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33172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AWS GovCloud / Azure Gov
K8s · 15 agents
IL4+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951"/>
                </a:solidFill>
              </a:rPr>
              <a:t>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85632" y="3840480"/>
            <a:ext cx="3017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39319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F0"/>
                </a:solidFill>
              </a:rPr>
              <a:t>100+ Developers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34340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6F0"/>
                </a:solidFill>
              </a:rPr>
              <a:t>AI-trained workforce
Certified Sensei bench
Program acceleration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951"/>
                </a:solidFill>
              </a:rP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77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6F0"/>
                </a:solidFill>
              </a:rPr>
              <a:t>Every program powered by ICDEV™ generates its own ATO package, trains its own team, and improves the shared knowledge base — compounding returns across the enterprise.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What We're Asking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Three specific approvals to stand up the ICDEV™ AI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1183112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59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C1"/>
                </a:solidFill>
              </a:rPr>
              <a:t>1.  Infrastructure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1"/>
            <a:ext cx="10908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2-node Kubernetes cluster  ·  64 vCPU, 256 GB RAM, 10 TB NVMe
AWS Bedrock (Claude) or Azure OpenAI Gov access (IL4+)
Isolated lab VLAN + CAC auth  ·  GitLab EE + JFrog Artifactory
Timeline: 30-day procurement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55847"/>
            <a:ext cx="11183112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47287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2.  Personnel (4 FTEs)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199"/>
            <a:ext cx="10908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AI Lab Director — strategy, stakeholder liaison, program integration
Platform / MLOps Engineer — ICDEV deployment, agent health, Bedrock
Training Lead — Academy curriculum, cohort scheduling, GameDay facilitation
ISSO — lab ATO, STIG compliance, audit trail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37175"/>
            <a:ext cx="11183112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28615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951"/>
                </a:solidFill>
              </a:rPr>
              <a:t>3.  Budget Authority — 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7"/>
            <a:ext cx="10908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</a:rPr>
              <a:t>Infrastructure (cloud + on-prem K8s): $150K–300K
Personnel (4 FTEs, blended rate): $300K–400K
Academy (4 cohorts) + GameDay (4 events): $120K–160K
ICDEV™ platform: $0 (Apache 2.0 open source)
Total: $570K–860K  against a Year-1 return of $4M–6M+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31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A951"/>
                </a:solidFill>
              </a:rPr>
              <a:t>Why Now — The Mandate Is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6F0"/>
                </a:solidFill>
              </a:rPr>
              <a:t>Federal AI policy and DoD strategy are not optional. ICDEV is already mapped to all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522976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659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951"/>
                </a:solidFill>
              </a:rPr>
              <a:t>OMB M-25-21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317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951"/>
                </a:solidFill>
              </a:rPr>
              <a:t>High-Impact AI 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24327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Requires model cards, system cards, AI inventory, confabulation detection, fairness assessment.
ICDEV status: BUILT — AI Transparency canvas + cross-framework audit.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874519"/>
            <a:ext cx="5522976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19659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OMB M-26-04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23317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951"/>
                </a:solidFill>
              </a:rPr>
              <a:t>Unbiased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624327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Requires fairness testing, bias detection, and accountability plans for all federal AI systems.
ICDEV status: BUILT — Fairness assessor + appeals + CAIO designation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5522976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DoD AI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951"/>
                </a:solidFill>
              </a:rPr>
              <a:t>AI-Ready Workforce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59028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Requires AI literacy across all personnel grades; NICE KSA alignment.
ICDEV status: BUILT — FORGE Academy is DoD AI Workforce Framework crosswalked.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3840480"/>
            <a:ext cx="5522976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E6F0"/>
                </a:solidFill>
              </a:rPr>
              <a:t>EO on AI / NIST AI RMF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951"/>
                </a:solidFill>
              </a:rPr>
              <a:t>Govern, Map, Measure, Manage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59028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F0"/>
                </a:solidFill>
              </a:rPr>
              <a:t>All high-impact AI systems must implement GOVERN, MAP, MEASURE, MANAGE functions.
ICDEV status: BUILT — NIST AI RMF 1.0 + AI 600-1 + OWASP Agentic AI integrated.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A951"/>
                </a:solidFill>
              </a:rPr>
              <a:t>Your organization doesn't have to figure this out. We already did.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|  FORGE Framework  |  IL4+ Ready  |  Apache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A951"/>
                </a:solidFill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31520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951"/>
                </a:solidFill>
              </a:rPr>
              <a:t>Day 1–30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280160"/>
            <a:ext cx="9491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Approve AI Lab stand-up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0784"/>
            <a:ext cx="10908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Authorize infrastructure procurement (K8s cluster + cloud LLM access).
Designate AI Lab Director and ISSO. Begin FY procurement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61488"/>
            <a:ext cx="11183112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529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951"/>
                </a:solidFill>
              </a:rPr>
              <a:t>Day 31–60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52928"/>
            <a:ext cx="9491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Deploy ICDEV™ + Onboard First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10908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ICDEV deployed and health-checked. First program team onboarded to canvases.
RICOAS intake session completed. Digital Twin run. ATO package auto-generated.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34256"/>
            <a:ext cx="11183112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256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951"/>
                </a:solidFill>
              </a:rPr>
              <a:t>Day 61–90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25696"/>
            <a:ext cx="9491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Launch FORGE Academy Cohort 1 + AI GameDay 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908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</a:rPr>
              <a:t>25-developer Cohort 1 begins 8-week track.
AI GameDay #1 executed — 4 teams, Operation CIPHER FORGE, live AAR.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742432"/>
            <a:ext cx="1118311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88152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951"/>
                </a:solidFill>
              </a:rPr>
              <a:t>One platform.  One decision.  Infinite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
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8A951"/>
                </a:solidFill>
              </a:rPr>
              <a:t>A System That
Builds Systems.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ICDEV™  ·  The Developer Platform for Government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3246120"/>
            <a:ext cx="523951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383280"/>
            <a:ext cx="11183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E0E6F0"/>
                </a:solidFill>
              </a:rPr>
              <a:t>Adopt vs. Build  ·  Executive Briefing  ·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Design
Canvases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39542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9542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9542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AI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6164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6164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530+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6164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Deterministic
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2787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2787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2787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Supported
Languages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49409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9409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100+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9409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Developers
Trained Year‑1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5216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1E3A5F"/>
                </a:solidFill>
              </a:rPr>
              <a:t>Compliance artifacts generated automatically. ATO is the byproduct, not the goal.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What Developers Are Dealing With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Before they write a single line of mission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11183112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011680"/>
            <a:ext cx="10853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951"/>
                </a:solidFill>
              </a:rPr>
              <a:t>Months of setup before the first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95728"/>
            <a:ext cx="1085392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6F0"/>
                </a:solidFill>
              </a:rPr>
              <a:t>Infrastructure provisioning, compliance scaffolding, CI/CD pipeline wiring, dependency audits — all before a single line of mission code is written. Developers spend more time getting ready to build than actually building.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337560"/>
            <a:ext cx="11183112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429000"/>
            <a:ext cx="10853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951"/>
                </a:solidFill>
              </a:rPr>
              <a:t>Knowledge that lives in people, not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813048"/>
            <a:ext cx="1085392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6F0"/>
                </a:solidFill>
              </a:rPr>
              <a:t>Security architect, ISSO, infrastructure engineer, CI/CD expert — remove any one person and the program stalls. Every team re-invents the same wheel on every program.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54880"/>
            <a:ext cx="11183112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4846320"/>
            <a:ext cx="10853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951"/>
                </a:solidFill>
              </a:rPr>
              <a:t>Complexity that grows faster than teams can absorb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5230368"/>
            <a:ext cx="1085392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6F0"/>
                </a:solidFill>
              </a:rPr>
              <a:t>Modern government software requires multi-cloud IaC, AI governance, supply chain integrity, zero-trust architecture, and six languages — simultaneously. No individual team can master all of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17220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951"/>
                </a:solidFill>
              </a:rPr>
              <a:t>The problem is not that developers lack skill. The problem is that they lack a platform.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831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8A951"/>
                </a:solidFill>
              </a:rPr>
              <a:t>What if your platform could build
your next platform?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8308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E6F0"/>
                </a:solidFill>
              </a:rPr>
              <a:t>ICDEV™ is a meta-builder. It generates complete, working systems from plain English — systems that themselves can build features using the same engine.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0E6F0"/>
                </a:solidFill>
              </a:rPr>
              <a:t>Plain English
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9814" y="3044952"/>
            <a:ext cx="137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6974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6974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12 Design
Canvases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3868" y="3044952"/>
            <a:ext cx="137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1028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1028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86C1"/>
                </a:solidFill>
              </a:rPr>
              <a:t>FORGE
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7923" y="3044952"/>
            <a:ext cx="137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95083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5083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CC71"/>
                </a:solidFill>
              </a:rPr>
              <a:t>ANVIL
Build 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21977" y="3044952"/>
            <a:ext cx="137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59137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59137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Working
System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069080"/>
            <a:ext cx="3666744" cy="2103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4178808"/>
            <a:ext cx="3447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Canvases are
your design environment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754880"/>
            <a:ext cx="344728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12 visual builders where developers think, design, and execute across every domain — network, security, data, AI, pipeline, and more.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4069080"/>
            <a:ext cx="3666744" cy="21031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4178808"/>
            <a:ext cx="3447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Digital Twin
simulates the outcome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4754880"/>
            <a:ext cx="344728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Before writing a line of code, run a 6-dimension simulation. Get three Courses of Action with cost, schedule, and risk projections.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19288" y="4069080"/>
            <a:ext cx="3666744" cy="210312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9016" y="4178808"/>
            <a:ext cx="3447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Use Cases
launch in minutes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9016" y="4754880"/>
            <a:ext cx="344728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Pre-built expert workflows for real government problems — modernization, budget execution, doc refresh — with canvas wiring done for you.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FORGE — The Engine Underneath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Six layers that separate what to build from how to build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Goals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What to achieve.
Which tools. Expected
outputs. 66 workflows.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74392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7544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Orchestration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5832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47544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AI reasons here.
Decides tool order.
Handles errors.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45864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9016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7304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9016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530+ Python scripts.
One job each.
Fully deterministic.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7336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0488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Args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8776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0488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YAML/JSON config.
Change behavior
without editing code.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88808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1960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0248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1960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Static reference.
Compliance catalogs.
Tone and standards.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60280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33432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Hard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51720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3432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Reusable LLM
instruction templates
across all workflows.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709160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Why this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193792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6F0"/>
                </a:solidFill>
              </a:rPr>
              <a:t>LLMs are probabilistic. At 90% accuracy per step, a 5-step workflow degrades to ~59% end-to-end. FORGE confines AI reasoning to orchestration only. Every tool call is deterministic Python. Developers get reliable, repeatable, auditable delivery — not prompt roulette.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ANVIL — Every Feature, Fully Assembled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Five-phase build cycle. Runs automatically on every feature request.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86C1"/>
                </a:solidFill>
              </a:rPr>
              <a:t>Architect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514600"/>
            <a:ext cx="1944014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Design and acceptance
criteria defined up
front. No surprises.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8102" y="32461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6974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6974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86C1"/>
                </a:solidFill>
              </a:rPr>
              <a:t>Navigate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8414" y="2514600"/>
            <a:ext cx="1944014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40126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Map to existing tools
and patterns. Reuse
before you build.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2156" y="32461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31028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1028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74C3C"/>
                </a:solidFill>
              </a:rPr>
              <a:t>Verify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2468" y="2514600"/>
            <a:ext cx="1944014" cy="2743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4180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Failing tests written
first. The spec IS
the test. (RED)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6211" y="32461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5083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5083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Integrate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86523" y="2514600"/>
            <a:ext cx="1944014" cy="274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8235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Implementation
generated until every
test passes. (GREEN)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40265" y="32461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59137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59137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Launch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50577" y="2514600"/>
            <a:ext cx="1944014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32289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Refactor, scan,
compliance map,
merge to main.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074920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Every ANVIL run produces: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Working, tested code in 6 languages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39542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Security scan report (SAST, deps, secrets)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76164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SBOM and compliance artifacts — automatically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2787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CI/CD pipeline wired and passing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49409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Deployment-ready container image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12 Design Canvases — Your Thinking Environment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Design visually. Query in plain English. Execute with a click.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47671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NDC  ·  Network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31719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Topology, multi-cloud, compliance overlay, cost modeling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1558" y="1874519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2998" y="1947671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SDC  ·  Security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998" y="2331719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Threat modeling, ATT&amp;CK mapping, gap detection, auto-fix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0196" y="1874519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1947671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PDC  ·  Pipeline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1636" y="2331719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Visual CI/CD, SLSA, OWASP coverage, cost estimate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8834" y="1874519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0274" y="1947671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BDC  ·  Boundary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0274" y="2331719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System boundary, interface agreements, configuration control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18103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191255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DDC  ·  Data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575303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Classification zones, PII/CUI tracking, data lineage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21558" y="3118103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12998" y="3191255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ODC  ·  Observability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2998" y="3575303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Detection coverage, Sigma rules, alerting topology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0196" y="3118103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1636" y="3191255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IDC  ·  Infrastructure Design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1636" y="3575303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IaC resources, 6 cloud providers, Terraform generation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58834" y="3118103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0274" y="3191255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AADC  ·  Agentic AI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0274" y="3575303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7 solution packs, 40+ node types, AI risk register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361687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434839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QDC  ·  Quality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818887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Code quality gates, test coverage, maintainability scoring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21558" y="4361687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12998" y="4434839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MDC  ·  Migration 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12998" y="4818887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7R assessment, strangler fig tracking, cutover planning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0196" y="4361687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1636" y="4434839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AIMC  ·  AI/ML Model Design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1636" y="4818887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Foundation model catalog, deployment patterns, IL levels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58834" y="4361687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0274" y="4434839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MSN  ·  Mission Canvas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0274" y="4818887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Strategic planning, operational design, COA visualization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144768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Every canvas: natural-language IQE queries · knowledge graph indexing · simulation-ready · air-gap safe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A Canvas in Action — Network Design (NDC)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From blank topology to compliant architecture in one session.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727198" cy="32004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29968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1  Drag + Drop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514600"/>
            <a:ext cx="2544318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633472"/>
            <a:ext cx="254431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Developer places cloud resources on the canvas: VPCs, subnets, load balancers, managed services. No Terraform yet. Just thinking visually.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1558" y="1920240"/>
            <a:ext cx="2727198" cy="3200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2998" y="2029968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2  Ask a 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2998" y="2514600"/>
            <a:ext cx="2544318" cy="27432"/>
          </a:xfrm>
          <a:prstGeom prst="rect">
            <a:avLst/>
          </a:prstGeom>
          <a:solidFill>
            <a:srgbClr val="17A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2998" y="2633472"/>
            <a:ext cx="254431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"What's my blast radius if the east subnet goes down?"  IQE runs a natural language query over the live diagram. Answer in &lt;1 second.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0196" y="1920240"/>
            <a:ext cx="2727198" cy="320040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1636" y="2029968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3  Run a Simulation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1636" y="2514600"/>
            <a:ext cx="2544318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1636" y="2633472"/>
            <a:ext cx="254431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Click Simulate. Digital Twin scores the design across architecture, cost, and risk dimensions. Recommendations surface inline.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8834" y="1920240"/>
            <a:ext cx="2727198" cy="32004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0274" y="2029968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4  Export + Execute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0274" y="2514600"/>
            <a:ext cx="2544318" cy="274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0274" y="2633472"/>
            <a:ext cx="254431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Export to Terraform, Ansible, or K8s manifests with one click. ANVIL wires the CI/CD pipeline. The canvas becomes the system.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303520"/>
            <a:ext cx="11183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A951"/>
                </a:solidFill>
              </a:rPr>
              <a:t>Same pattern works across all 12 canvases.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76072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Design once on the canvas — ICDEV™ generates IaC, pipeline config, test scaffolding, and compliance evidence automatically. Developers ship. The platform handles the rest.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Unified Chat — Intent Becomes Software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Not a chatbot. A structured intake engine that wires canvases, agents, and tools for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468880" cy="35661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81528" y="1920240"/>
            <a:ext cx="5029200" cy="35661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0456" y="1920240"/>
            <a:ext cx="3291840" cy="3566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Common Use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423160"/>
            <a:ext cx="2249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+ New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07208"/>
            <a:ext cx="2249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A951"/>
                </a:solidFill>
              </a:rPr>
              <a:t>▸ General Modernization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191256"/>
            <a:ext cx="2249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Year-End Budget Sprint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575304"/>
            <a:ext cx="2249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Doc Refresh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59352"/>
            <a:ext cx="2249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Custom Intake...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91256" y="2011680"/>
            <a:ext cx="4809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86C1"/>
                </a:solidFill>
              </a:rPr>
              <a:t>Message Stream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1256" y="2423160"/>
            <a:ext cx="4809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A951"/>
                </a:solidFill>
              </a:rPr>
              <a:t>You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91256" y="2624328"/>
            <a:ext cx="4809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We have a COBOL system that needs modernization.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91256" y="3108960"/>
            <a:ext cx="4809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7A58A"/>
                </a:solidFill>
              </a:rPr>
              <a:t>ICDEV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91256" y="3310128"/>
            <a:ext cx="4809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Got it. I've pre-loaded 12 modernization requirements and wired the Migration Canvas + Digital Twin. Readiness score: 78%. Shall I run a simulation?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91256" y="3794760"/>
            <a:ext cx="4809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A951"/>
                </a:solidFill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91256" y="3995928"/>
            <a:ext cx="4809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Yes, show me the three options.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91256" y="4480560"/>
            <a:ext cx="4809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7A58A"/>
                </a:solidFill>
              </a:rPr>
              <a:t>ICDEV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91256" y="4681728"/>
            <a:ext cx="4809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Running Digital Twin — 3 COAs ready. Speed: 1 PI. Balanced: 2 PI (recommended). Comprehensive: 4 PI. Sending to canvas now.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0184" y="2011680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7A58A"/>
                </a:solidFill>
              </a:rPr>
              <a:t>Live Context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0184" y="2423160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Readiness: 78 / 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0184" y="2761488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Requirements: 12 loaded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4" y="3099816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Migration Canvas: active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4" y="3438144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Digital Twin: ready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0184" y="3776472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Supply Chain: queued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4114800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————————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4" y="4453128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AI Governance: active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0184" y="4791456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Transparency: 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0184" y="5129784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Fairness: 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623560"/>
            <a:ext cx="3636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951"/>
                </a:solidFill>
              </a:rPr>
              <a:t>Expert persona loaded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879592"/>
            <a:ext cx="3636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Each use case launches with a specialized AI persona and pre-seeded requirements.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30624" y="5623560"/>
            <a:ext cx="3636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951"/>
                </a:solidFill>
              </a:rPr>
              <a:t>Canvases wired on launch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0624" y="5879592"/>
            <a:ext cx="3636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Clicking a use case pre-configures Migration Canvas, Digital Twin, Supply Chain in one step.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8328" y="5623560"/>
            <a:ext cx="3636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951"/>
                </a:solidFill>
              </a:rPr>
              <a:t>Readiness score keeps you honest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8328" y="5879592"/>
            <a:ext cx="3636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7-dimension scoring surfaces gaps before you build, not after you deploy.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Three Use Cases. Real Problems. Minutes to Launch.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Pre-built expert workflows — requirements loaded, canvases wired, AI persona 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3666744" cy="429768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984247"/>
            <a:ext cx="34472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951"/>
                </a:solidFill>
              </a:rPr>
              <a:t>General Modernization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441447"/>
            <a:ext cx="3447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A951"/>
                </a:solidFill>
              </a:rPr>
              <a:t>12 requirements pre-loaded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2743199"/>
            <a:ext cx="3447288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862071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Start: Describe your legacy system.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264407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ICDEV wires Migration Canvas + Digital Twin.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666743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Get 3 COAs: Speed / Balanced / Comprehensive.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4069079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7Rs classification: Retire → Re-architect.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4471415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ATO bridge maintained throughout.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4873751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Output: phased migration plan with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5276087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  rollback runbooks, IaC, and timeline.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61104" y="1874519"/>
            <a:ext cx="3666744" cy="42976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1984247"/>
            <a:ext cx="34472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C1"/>
                </a:solidFill>
              </a:rPr>
              <a:t>Year-End Budget Sprint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2" y="2441447"/>
            <a:ext cx="3447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A951"/>
                </a:solidFill>
              </a:rPr>
              <a:t>14 requirements pre-loaded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0832" y="2743199"/>
            <a:ext cx="3447288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0832" y="2862071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Start: What do you need to spend before FY-end?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0832" y="3264407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ICDEV generates BOM, IGCE, and SOW in minutes.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3666743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Tier 1 (execution-ready) vs Tier 2 (backup).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2" y="4069079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FAR/DFARS + Section 889 checked automatically.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4471415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Digital Twin projects budget vs. outcome.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873751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Output: CSV/XLSX BOM with lead times,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0832" y="5276087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  vendor quotes, and contract vehicles.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9288" y="1874519"/>
            <a:ext cx="3666744" cy="429768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9016" y="1984247"/>
            <a:ext cx="34472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7A58A"/>
                </a:solidFill>
              </a:rPr>
              <a:t>Crowd-Sourced Doc Refresh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2441447"/>
            <a:ext cx="3447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A951"/>
                </a:solidFill>
              </a:rPr>
              <a:t>10 requirements pre-loaded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29016" y="2743199"/>
            <a:ext cx="3447288" cy="27432"/>
          </a:xfrm>
          <a:prstGeom prst="rect">
            <a:avLst/>
          </a:prstGeom>
          <a:solidFill>
            <a:srgbClr val="17A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29016" y="2862071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Start: Which document is stale?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9016" y="3264407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Staleness detected: dates, deprecated refs.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9016" y="3666743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Role-weighted crowd voting on edits.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9016" y="4069079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AI rebuilds approved sections.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9016" y="4471415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Auto-indexed to Knowledge Graph in &lt;24 hrs.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6" y="4873751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Output: version-controlled document with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9016" y="5276087"/>
            <a:ext cx="3447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  diff view and full audit trail.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291072"/>
            <a:ext cx="11183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1E3A5F"/>
                </a:solidFill>
              </a:rPr>
              <a:t>Add new use cases by editing args/use_cases.yaml — zero Python required.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Digital Program Twin — See the Future Before You Build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Simulate outcomes across six dimensions before committing a single requirement.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Components, coupling,
API surface, data 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4392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9256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Compliance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9256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Control coverage,
boundary tier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5864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00728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Supply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0728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Dependencies, vendors,
SBOM delta, CVE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PERT estimates, critical
path, PI count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8808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3672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3672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T-shirt roll-up, infra
delta, vendor licensing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60280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5144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15144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Compound score, risk
interactions, mitigation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10712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A951"/>
                </a:solidFill>
              </a:rPr>
              <a:t>10,000 Monte Carlo iterations  →  P10 (optimistic)  /  P50 (likely)  /  P80 (reserve)  /  P90 (conservative)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858768"/>
            <a:ext cx="3666744" cy="2212848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50208"/>
            <a:ext cx="3483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0E6F0"/>
                </a:solidFill>
              </a:rPr>
              <a:t>Speed COA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370832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1–2 PIs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66344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LOW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956048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HIGH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294376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0E6F0"/>
                </a:solidFill>
              </a:rPr>
              <a:t>P1 requirements only.
Fastest path to capability.
Technical debt incurred.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61104" y="3858768"/>
            <a:ext cx="3666744" cy="2212848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52544" y="3950208"/>
            <a:ext cx="3483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</a:rPr>
              <a:t>Balanced COA  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2544" y="4370832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2–3 PIs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52544" y="466344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MED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52544" y="4956048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MOD risk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2544" y="5294376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0E6F0"/>
                </a:solidFill>
              </a:rPr>
              <a:t>P1 + P2. Best tradeoff.
Recommended for most programs.
Full capability delivery.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19288" y="3858768"/>
            <a:ext cx="3666744" cy="2212848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10728" y="3950208"/>
            <a:ext cx="3483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0E6F0"/>
                </a:solidFill>
              </a:rPr>
              <a:t>Comprehensive COA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10728" y="4370832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3–5 PIs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10728" y="466344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HIGH 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956048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LOW risk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10728" y="5294376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0E6F0"/>
                </a:solidFill>
              </a:rPr>
              <a:t>Full scope. All requirements.
Lowest residual risk.
Longest delivery timeline.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17220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8A951"/>
                </a:solidFill>
              </a:rPr>
              <a:t>No commercial platform offers program-level simulation with this depth. ICDEV™ is the only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FORGE Academy — 100 Developers in 8 Weeks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Gamified, role-based AI training purpose-built for government software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Role Tracks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39542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39542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9542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Missions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76164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76164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6164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Ranks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12787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2787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12787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Certifications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49409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49409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4 × 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9409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Cohort 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0E6F0"/>
                </a:solidFill>
              </a:rPr>
              <a:t>Recruit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0 XP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7246" y="3337560"/>
            <a:ext cx="100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66974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66974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0E6F0"/>
                </a:solidFill>
              </a:rPr>
              <a:t>Operative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6974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500 XP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21300" y="3337560"/>
            <a:ext cx="100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31028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31028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Specialist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31028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2,000 XP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5355" y="3337560"/>
            <a:ext cx="100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95083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95083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CC71"/>
                </a:solidFill>
              </a:rPr>
              <a:t>Architect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5083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5,000 XP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9409" y="3337560"/>
            <a:ext cx="100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9137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9137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A951"/>
                </a:solidFill>
              </a:rPr>
              <a:t>Sensei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9137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10,000+ XP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133087"/>
            <a:ext cx="3666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Role Tracks (12)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526280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DevOps  ·  DataOps  ·  SecOps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4873752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SWE / Architect  ·  NetOps  ·  SRE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221224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ISSO  ·  ISSM  ·  CISO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568696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PM  ·  Analyst  ·  Leadership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1104" y="4133087"/>
            <a:ext cx="3666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Certification Gates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1104" y="4526280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Foundation (8 wks) — Tier 1 + role Tier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1104" y="4873752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Practitioner (+4 wks) — design score ≥80 + GameDay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1104" y="5221224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Expert (Capstone) — top-50% GameDay finish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61104" y="5568696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Auto-currency: Genesis daemon updates curriculum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19288" y="4133087"/>
            <a:ext cx="3666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Developer Outcomes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19288" y="4526280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Day 1: deploys first LLM feature via ICDEV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19288" y="4873752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Week 4: designs multi-agent system on AADC canvas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9288" y="5221224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Week 8: Foundation-certified, Kanban-ready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9288" y="5568696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Week 12+: mentors next cohort (Sensei path)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AI GameDay — Skills Tested Under Fire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Live, AI-scored wargame. Four teams. Five injects. One After-Action Report.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727198" cy="1691640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965959"/>
            <a:ext cx="258089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74C3C"/>
                </a:solidFill>
              </a:rPr>
              <a:t>RED
THREAT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496311"/>
            <a:ext cx="258089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Attack design
Threat emulation
Exploit engineering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1558" y="1874519"/>
            <a:ext cx="2727198" cy="16916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4710" y="1965959"/>
            <a:ext cx="258089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86C1"/>
                </a:solidFill>
              </a:rPr>
              <a:t>BLUE
DEFENSE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4710" y="2496311"/>
            <a:ext cx="258089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Incident response
Defense posture
Containment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0196" y="1874519"/>
            <a:ext cx="2727198" cy="169164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3348" y="1965959"/>
            <a:ext cx="258089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951"/>
                </a:solidFill>
              </a:rPr>
              <a:t>GOLD
INNOVATION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3348" y="2496311"/>
            <a:ext cx="258089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Novel AI modules
Training pair generation
ML sprint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8834" y="1874519"/>
            <a:ext cx="2727198" cy="16916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31986" y="1965959"/>
            <a:ext cx="258089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</a:rPr>
              <a:t>GREEN
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1986" y="2496311"/>
            <a:ext cx="258089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NIST verdicts
Ethics assessment
Policy guidance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21608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Operation CIPHER FORGE — Five Injects (4-Hour Event)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Signal
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SIGINT threat
assessment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39542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12694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COA
Posture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2694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40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2694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Force posture
recommendation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76164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9316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Ransomware
Cascade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9316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Seq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9316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Contain, eradicate,
recover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12787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85939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Fine-Tune
Sprint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5939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Seq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5939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Generate + evaluate
ML training pairs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49409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22561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War Council
Brief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2561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Final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2561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Executive synthesis
of all learnings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55955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Scoring: Adversarial 40%  ·  Innovation 25%  ·  Compliance 20%  ·  Training Pairs 15%  ·  AI-judged  ·  Server-verified receipts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870448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Output: Auto-generated AAR  ·  Live leaderboard  ·  Fine-tune pairs feed directly into model improvement  ·  Required for Practitioner cert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Every Program Makes the Next One Faster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ICDEV™ generates living systems — they inherit the full platform and improve the shared knowledge 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Programs built with ICDEV™ are not finished products. They are living systems.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560320"/>
            <a:ext cx="5545836" cy="146304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651760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Generated systems inherit the full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063240"/>
            <a:ext cx="53263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Every app ICDEV builds gets its own FORGE framework, agent architecture, memory system, CI/CD, and canvas suite. They can build their own next features using the same ANVIL workflow that built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0196" y="2560320"/>
            <a:ext cx="5545836" cy="14630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9924" y="2651760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C1"/>
                </a:solidFill>
              </a:rPr>
              <a:t>Knowledge compounds across programs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9924" y="3063240"/>
            <a:ext cx="53263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Every build adds to the shared knowledge graph. Patterns discovered in Program A are automatically surfaced when Program B starts the same task. Genesis daemon promotes proven patterns into new Academy missions.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160520"/>
            <a:ext cx="5545836" cy="14630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4251960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</a:rPr>
              <a:t>Teams get faster, not slower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4663440"/>
            <a:ext cx="53263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Each cohort of 25 developers who complete FORGE Academy become internal Senseis who train the next cohort. By Year 2, your AI Lab runs itself.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0196" y="4160520"/>
            <a:ext cx="5545836" cy="1463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924" y="4251960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7A58A"/>
                </a:solidFill>
              </a:rPr>
              <a:t>Compliance artifacts accumulate, not repeat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4663440"/>
            <a:ext cx="53263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Control evidence generated in Program A is reused by Program B. The crosswalk engine means you never map the same control twice. ATO becomes a natural output — developers don’t even think about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9788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951"/>
                </a:solidFill>
              </a:rPr>
              <a:t>Year 1: stand up the lab.  Year 2: every program team is self-sufficient.  Year 3: your organization is the AI center of excellence.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Build Alone vs. Build With ICDEV™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The question is not whether to build — it’s whether to build with a platform or without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11095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874519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91109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Building Without ICDEV™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74519"/>
            <a:ext cx="4233672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91109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Building With ICDEV™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67711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04287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Setup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267711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230428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Weeks of scaffolding before first feature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2267711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230428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First feature on Day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60903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97479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97480" y="2660903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8920" y="2697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Whiteboard → doc → ticket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2660903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2697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Canvas → simulate → execute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054095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090671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AI capability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97480" y="3054095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309067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Build LLM wrappers from scratch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054095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0" y="309067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12 canvases + 15 agents ready to go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447287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483863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Simulation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97480" y="3447287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88920" y="3483863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Spreadsheet estimates, best guesses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3447287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0" y="3483863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Digital Twin: 6 dims, 3 COAs, Monte Carlo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840479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877055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Multi-cloud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97480" y="3840479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88920" y="387705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Re-learn each CSP per program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9440" y="3840479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0" y="387705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6 CSPs, IaC generation, equivalence maps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233671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4270247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Legacy modernization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97480" y="4233671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88920" y="427024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Greenfield rebuild or nothing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49440" y="4233671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427024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7Rs assessment + migration canvas + ATO bridge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26863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663439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Developer growth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97480" y="4626863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88920" y="46634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Ad hoc, on-the-job, expensive training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9440" y="4626863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0880" y="46634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FORGE Academy: 12 roles, certified in 8 weeks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020055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5056631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Knowledge transfer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97480" y="5020055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8920" y="505663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Walks out the door when people leave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9440" y="5020055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40880" y="505663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Knowledge graph + Genesis daemon: never lost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413247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5449823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Compliance artifacts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97480" y="5413247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88920" y="5449823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Manual, post-hoc, months of ISSO time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5413247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40880" y="5449823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Generated automatically — a byproduct of building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6016752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8A951"/>
                </a:solidFill>
              </a:rPr>
              <a:t>Compliance and ATO in the last row — because with ICDEV™, developers never have to think about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The AI Lab — What You’re Standing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A self-improving developer platform that trains your people and accelerates every program.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5676" y="2194560"/>
            <a:ext cx="365760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2836" y="230428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ICDEV™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2836" y="2779776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12 Canvases  ·  15 Agents  ·  FORGE + ANVIL
Digital Twin  ·  Chat + Use Cases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11680"/>
            <a:ext cx="301752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031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FORGE Academy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1460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12 roles, 75 missions
4 cohorts × 25 devs, 8 wks
Certified AI workforce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5146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31920"/>
            <a:ext cx="301752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02336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AI GameDay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3484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4 teams, 5 injects
Quarterly wargames
AAR + certification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4434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77072" y="2011680"/>
            <a:ext cx="301752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8512" y="21031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Cloud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2" y="251460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AWS GovCloud / Azure Gov
K8s, 15 agents live
IL4+ 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2" y="25146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77072" y="3931920"/>
            <a:ext cx="301752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68512" y="402336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100+ Developers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8512" y="443484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AI-trained, certified
Sensei bench by Month 8
Self-sustaining by Year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4434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96128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Every program powered by ICDEV™ trains your team, improves the knowledge base, and generates its own compliance artifacts — compounding returns across the enterprise.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What We’re Asking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Three approvals. One platform. Returns from Day 90.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1183112" cy="13716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59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86C1"/>
                </a:solidFill>
              </a:rPr>
              <a:t>1. 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86583"/>
            <a:ext cx="1090879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2-node Kubernetes cluster  ·  64 vCPU, 256 GB RAM, 10 TB NVMe
AWS Bedrock (Claude) or Azure OpenAI Gov access (IL4+)
GitLab EE + isolated lab VLAN + CAC auth
Timeline: 30-day procurement  ·  Budget: $150K–$300K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355847"/>
            <a:ext cx="11183112" cy="13716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447287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</a:rPr>
              <a:t>2.  Personnel (4 FTEs)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67911"/>
            <a:ext cx="1090879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AI Lab Director — strategy, stakeholder liaison, program integration
Platform / MLOps Engineer — ICDEV deployment, agent health, LLM integration
Training Lead — Academy curriculum, cohort scheduling, GameDay facilitation
ISSO — lab authorization, audit trail review, POA&amp;M management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837175"/>
            <a:ext cx="11183112" cy="137160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928615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951"/>
                </a:solidFill>
              </a:rPr>
              <a:t>3.  Budget Authority (Year 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39"/>
            <a:ext cx="1090879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Infrastructure (cloud + K8s): $150K–$300K
Personnel (4 FTEs): $300K–$400K
Academy (4 cohorts × 25 devs) + GameDay (4 events): $120K–$160K
ICDEV™ platform: $0 (Apache 2.0 open source)
Total: $570K–$860K  against a Year-1 return of $4M–$6M+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Why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The mandate to build AI-capable government software teams has arrived.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5545836" cy="178308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965959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OMB M-25-21 + M-26-04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386583"/>
            <a:ext cx="53263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Federal agencies must demonstrate responsible, unbiased, transparent AI. ICDEV™ generates model cards, system cards, fairness assessments, and AI inventory automatically — as a byproduct of building.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0196" y="1874519"/>
            <a:ext cx="5545836" cy="1783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9924" y="1965959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DoD AI Workforce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9924" y="2386583"/>
            <a:ext cx="53263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DoD requires AI literacy across all personnel grades with NICE KSA alignment. FORGE Academy is already crosswalked to the DoD AI Workforce Framework. Every mission maps to a KSA.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794759"/>
            <a:ext cx="5545836" cy="1783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3886199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The Competitive Window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4306823"/>
            <a:ext cx="53263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Organizations that build AI-native developer platforms now will have a 3–5 year head start over those that wait. The tools exist. The talent can be trained. The only question is whether you move first.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0196" y="3794759"/>
            <a:ext cx="5545836" cy="1783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9924" y="3886199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The Cost of Waiting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9924" y="4306823"/>
            <a:ext cx="53263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Every month without a platform is another month of developers re-inventing scaffolding, re-learning compliance, and re-training from scratch. The opportunity cost compounds just as fast as the returns would.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80644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ICDEV™ is already mapped to every current federal AI mandate. Your organization doesn’t have to figure it out — we already did.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C8A951"/>
                </a:solidFill>
              </a:rPr>
              <a:t>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32688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1118311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80160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951"/>
                </a:solidFill>
              </a:rPr>
              <a:t>Day 1–30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280160"/>
            <a:ext cx="9537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Approve AI Lab stand-up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0784"/>
            <a:ext cx="1090879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Authorize infrastructure procurement. Designate AI Lab Director and ISSO. Begin FY procurement action. ICDEV™ deployed and health-checked by Day 30.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24912"/>
            <a:ext cx="1118311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1635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951"/>
                </a:solidFill>
              </a:rPr>
              <a:t>Day 31–60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816352"/>
            <a:ext cx="9537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Onboard first program 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36976"/>
            <a:ext cx="1090879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First team onboarded to canvases. RICOAS intake session run. Digital Twin simulation executed. First set of compliance artifacts generated automatically — without anyone asking for them.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261104"/>
            <a:ext cx="1118311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52544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951"/>
                </a:solidFill>
              </a:rPr>
              <a:t>Day 61–90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352544"/>
            <a:ext cx="9537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Launch Academy Cohort 1 + GameDay #1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73168"/>
            <a:ext cx="1090879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25 developers begin 8-week FORGE Academy track. AI GameDay #1 executed with 4 teams. AAR published. Lessons learned fed back into Academy curriculum automatically.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779008"/>
            <a:ext cx="11183112" cy="475488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824728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951"/>
                </a:solidFill>
              </a:rPr>
              <a:t>One platform.  Every program.  Starting Day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
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 — COST ESTIMATES (not validated figures)</a:t>
            </a:r>
          </a:p>
          <a:p/>
          <a:p>
            <a:r>
              <a:t>All dollar ranges on this slide are market-rate estimates only. They have NOT been validated against actual vendor quotes, procurement data, or your organization’s labor category rates. Replace before presenting to a CFO or contracting officer.</a:t>
            </a:r>
          </a:p>
          <a:p/>
          <a:p>
            <a:r>
              <a:t>Infrastructure ($150K–$300K)</a:t>
            </a:r>
          </a:p>
          <a:p>
            <a:r>
              <a:t>  Basis: AWS GovCloud or on-prem K8s at roughly $12K–$25K/month annualized for the specified spec (64 vCPU, 256 GB RAM, 10 TB NVMe) plus LLM API credits. Replace with an actual AWS GovCloud / Azure Gov quote for this exact configuration.</a:t>
            </a:r>
          </a:p>
          <a:p/>
          <a:p>
            <a:r>
              <a:t>Personnel ($300K–$400K)</a:t>
            </a:r>
          </a:p>
          <a:p>
            <a:r>
              <a:t>  Basis: 4 FTEs at a blended $75K–$100K/year — assumes a mix of GS-13 equivalents and contractor labor. Replace with your actual GS salary tables or IDIQ labor category rates for the four roles listed.</a:t>
            </a:r>
          </a:p>
          <a:p/>
          <a:p>
            <a:r>
              <a:t>Academy + GameDay ($120K–$160K)</a:t>
            </a:r>
          </a:p>
          <a:p>
            <a:r>
              <a:t>  Basis: ~$20K–$40K per cohort × 4 cohorts, rough facilitation and compute estimate. Adjust based on whether delivery is in-person or virtual, and whether facilitators are internal staff or contracted.</a:t>
            </a:r>
          </a:p>
          <a:p/>
          <a:p>
            <a:r>
              <a:t>Year-1 Return ($4M–$6M+)</a:t>
            </a:r>
          </a:p>
          <a:p>
            <a:r>
              <a:t>  Basis: If one program compresses ATO from 15 months to 2 months, and burns $500K/month in program labor during that period, the saved 13 months = $6.5M. Replace with a real program data point from your portfolio if available. This figure will be the most scrutinized number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951"/>
                </a:solidFill>
              </a:rPr>
              <a:t>A System That
Builds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ICDEV™  ·  The Developer Platform for Government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3246120"/>
            <a:ext cx="523951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38328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0E6F0"/>
                </a:solidFill>
              </a:rPr>
              <a:t>Adopt vs. Build  ·  Executive Briefing  ·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Design
Canvases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39542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9542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9542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6164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6164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530+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6164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Deterministic
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2787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2787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2787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Supported
Languages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49409" y="3931920"/>
            <a:ext cx="2163470" cy="1645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9409" y="4005072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9409" y="4681728"/>
            <a:ext cx="216347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Developers
Trained Year‑1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5216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E3A5F"/>
                </a:solidFill>
              </a:rPr>
              <a:t>Compliance artifacts generated automatically. ATO is the byproduct, not the goal.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What Developers Are Dealing With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Before they write a single line of mission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01168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Months of setup before the first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9572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Infrastructure provisioning, compliance scaffolding, CI/CD pipeline wiring, dependency audits — all before a single line of mission code is written. Developers spend more time getting ready to build than actually building.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3756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42900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Knowledge that lives in people, not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81304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Security architect, ISSO, infrastructure engineer, CI/CD expert — remove any one person and the program stalls. Every team re-invents the same wheel on every program.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846320"/>
            <a:ext cx="10853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Complexity that grows faster than teams can absorb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230368"/>
            <a:ext cx="1085392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Modern government software requires multi-cloud IaC, AI governance, supply chain integrity, zero-trust architecture, and six languages — simultaneously. No individual team can master all of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The problem is not that developers lack skill. The problem is that they lack a platform.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831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8A951"/>
                </a:solidFill>
              </a:rPr>
              <a:t>What if your platform could build
your next platform?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6F0"/>
                </a:solidFill>
              </a:rPr>
              <a:t>ICDEV™ is a meta-builder. It generates complete, working systems from plain English — systems that themselves can build features using the same engine.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0E6F0"/>
                </a:solidFill>
              </a:rPr>
              <a:t>Plain English
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9814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6974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6974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12 Design
Canvases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3868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1028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1028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86C1"/>
                </a:solidFill>
              </a:rPr>
              <a:t>FORGE
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7923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95083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5083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CC71"/>
                </a:solidFill>
              </a:rPr>
              <a:t>ANVIL
Build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1977" y="3044952"/>
            <a:ext cx="137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59137" y="2606040"/>
            <a:ext cx="2126894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9137" y="2880360"/>
            <a:ext cx="212689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Working
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Canvases are
your design environment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12 visual builders where developers think, design, and execute across every domain — network, security, data, AI, pipeline, and more.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Digital Twin
simulates the outcome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Before writing a line of code, run a 6-dimension simulation. Get three Courses of Action with cost, schedule, and risk projections.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9288" y="4069080"/>
            <a:ext cx="3666744" cy="21031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9016" y="4178808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Use Cases
launch in minutes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9016" y="4754880"/>
            <a:ext cx="344728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Pre-built expert workflows for real government problems — modernization, budget execution, doc refresh — with canvas wiring done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FORGE — The Engine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Six layers that separate what to build from how to build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What to achieve.
Which tools. Expected
outputs. 66 workflows.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4392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7544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Orchestration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5832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7544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AI reasons here.
Decides tool order.
Handles errors.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45864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9016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7304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9016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530+ Python scripts.
One job each.
Fully deterministic.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Args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YAML/JSON config.
Change behavior
without editing code.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8808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1960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0248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1960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Static reference.
Compliance catalogs.
Tone and standards.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60280" y="1874519"/>
            <a:ext cx="1825752" cy="2651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3432" y="1984247"/>
            <a:ext cx="16794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Hard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1720" y="2468879"/>
            <a:ext cx="1642872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3432" y="2560319"/>
            <a:ext cx="16794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Reusable LLM
instruction templates
across all workflows.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70916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Why this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93792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6F0"/>
                </a:solidFill>
              </a:rPr>
              <a:t>LLMs are probabilistic. At 90% accuracy per step, a 5-step workflow degrades to ~59% end-to-end. FORGE confines AI reasoning to orchestration only. Every tool call is deterministic Python. Developers get reliable, repeatable, auditable delivery — not prompt roulette.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ANVIL — Every Feature, Fully Assembled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Five-phase build cycle. Runs automatically on every feature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86C1"/>
                </a:solidFill>
              </a:rPr>
              <a:t>Architect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1944014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Design and acceptance
criteria defined up
front. No surprises.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8102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6974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6974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86C1"/>
                </a:solidFill>
              </a:rPr>
              <a:t>Navigate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8414" y="2514600"/>
            <a:ext cx="1944014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0126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Map to existing tools
and patterns. Reuse
before you build.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2156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1028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1028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74C3C"/>
                </a:solidFill>
              </a:rPr>
              <a:t>Verify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2468" y="2514600"/>
            <a:ext cx="1944014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4180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Failing tests written
first. The spec IS
the test. (RED)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6211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5083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5083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71"/>
                </a:solidFill>
              </a:rPr>
              <a:t>Integrate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6523" y="2514600"/>
            <a:ext cx="1944014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8235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Implementation
generated until every
test passes. (GREEN)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0265" y="32461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9137" y="1920240"/>
            <a:ext cx="2126894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9137" y="2029968"/>
            <a:ext cx="212689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Launch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0577" y="2514600"/>
            <a:ext cx="1944014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2289" y="2633472"/>
            <a:ext cx="19805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Refactor, scan,
compliance map,
merge to main.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07492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Every ANVIL run produces: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Working, tested code in 6 languages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9542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Security scan report (SAST, deps, secrets)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6164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SBOM and compliance artifacts —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2787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CI/CD pipeline wired and passing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9409" y="5440680"/>
            <a:ext cx="219090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Deployment-ready container image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12 Design Canvases — Your Thinking Environment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Design visually. Query in plain English. Execute with a click.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NDC  ·  Network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Topology, multi-cloud, compliance overlay, cost modeling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558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98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SDC  ·  Security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98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Threat modeling, ATT&amp;CK mapping, gap detection, auto-fix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196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PDC  ·  Pipeline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Visual CI/CD, SLSA, OWASP coverage, cost estimate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8834" y="1874519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0274" y="1947671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BDC  ·  Boundary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0274" y="2331719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System boundary, interface agreements, configuration control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DDC  ·  Data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Classification zones, PII/CUI tracking, data lineage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21558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2998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ODC  ·  Observability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2998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Detection coverage, Sigma rules, alerting topology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0196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1636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IDC  ·  Infrastructure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1636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IaC resources, 6 cloud providers, Terraform generation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8834" y="3118103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0274" y="3191255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AADC  ·  Agentic AI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0274" y="3575303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 solution packs, 40+ node types, AI risk register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QDC  ·  Quality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Code quality gates, test coverage, maintainability scoring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21558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2998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MDC  ·  Migration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2998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7R assessment, strangler fig tracking, cutover planning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0196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1636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AIMC  ·  AI/ML Model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1636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Foundation model catalog, deployment patterns, IL levels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58834" y="4361687"/>
            <a:ext cx="2727198" cy="1170432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0274" y="4434839"/>
            <a:ext cx="25443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MSN  ·  Mission Canvas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0274" y="4818887"/>
            <a:ext cx="25443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Strategic planning, operational design, COA visualization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4476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Every canvas: natural-language IQE queries · knowledge graph indexing · simulation-ready · air-gap safe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 Canvas in Action — Network Design (NDC)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From blank topology to compliant architecture in one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1  Drag + Drop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2544318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Developer places cloud resources on the canvas: VPCs, subnets, load balancers, managed services. No Terraform yet. Just thinking visually.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1558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2998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2  Ask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8" y="2514600"/>
            <a:ext cx="2544318" cy="27432"/>
          </a:xfrm>
          <a:prstGeom prst="rect">
            <a:avLst/>
          </a:prstGeom>
          <a:solidFill>
            <a:srgbClr val="17A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2998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"What's my blast radius if the east subnet goes down?"  IQE runs a natural language query over the live diagram. Answer in &lt;1 second.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0196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3  Run a Simulation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2514600"/>
            <a:ext cx="2544318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Click Simulate. Digital Twin scores the design across architecture, cost, and risk dimensions. Recommendations surface inline.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8834" y="1920240"/>
            <a:ext cx="2727198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0274" y="2029968"/>
            <a:ext cx="2544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4  Export + Execute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0274" y="2514600"/>
            <a:ext cx="2544318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0274" y="2633472"/>
            <a:ext cx="254431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Export to Terraform, Ansible, or K8s manifests with one click. ANVIL wires the CI/CD pipeline. The canvas becomes the 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0352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A951"/>
                </a:solidFill>
              </a:rPr>
              <a:t>Same pattern works across all 12 canvases.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Design once on the canvas — ICDEV™ generates IaC, pipeline config, test scaffolding, and compliance evidence automatically. Developers ship. The platform handles the rest.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Unified Chat — Intent Becomes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Not a chatbot. A structured intake engine that wires canvases, agents, and tools for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46888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81528" y="1920240"/>
            <a:ext cx="502920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0456" y="1920240"/>
            <a:ext cx="329184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Use Cases (13)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423160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A951"/>
                </a:solidFill>
              </a:rPr>
              <a:t>+ New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752344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A951"/>
                </a:solidFill>
              </a:rPr>
              <a:t>▸ General Modernization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81528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Year-End Budget Sprint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10712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Doc Refresh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739896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ATO Package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069080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CDRL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4398264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Incident Response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727448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▸ SBOM Attestation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056632"/>
            <a:ext cx="22494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3A5F"/>
                </a:solidFill>
              </a:rPr>
              <a:t>▸ +5 more...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91256" y="2011680"/>
            <a:ext cx="4809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86C1"/>
                </a:solidFill>
              </a:rPr>
              <a:t>Message 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256" y="24231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951"/>
                </a:solidFill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256" y="26243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We have a COBOL system that needs modernization.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91256" y="31089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7A58A"/>
                </a:solidFill>
              </a:rPr>
              <a:t>ICDEV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91256" y="33101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Got it. I've pre-loaded 12 modernization requirements and wired the Migration Canvas + Digital Twin. Readiness score: 78%. Shall I run a simulation?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1256" y="37947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951"/>
                </a:solidFill>
              </a:rPr>
              <a:t>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256" y="39959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Yes, show me the three options.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256" y="4480560"/>
            <a:ext cx="4809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7A58A"/>
                </a:solidFill>
              </a:rPr>
              <a:t>ICDEV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91256" y="4681728"/>
            <a:ext cx="4809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Running Digital Twin — 3 COAs ready. Speed: 1 PI. Balanced: 2 PI (recommended). Comprehensive: 4 PI. Sending to canvas now.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201168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7A58A"/>
                </a:solidFill>
              </a:rPr>
              <a:t>Live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4" y="2423160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Readiness: 78 / 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761488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Requirements: 12 loaded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3099816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Migration Canvas: active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3438144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Digital Twin: 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3776472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Supply Chain: queued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0184" y="4114800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————————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0184" y="4453128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AI Governance: active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4" y="4791456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Transparency: 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0184" y="5129784"/>
            <a:ext cx="3072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Fairness: 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Expert persona loaded automatically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Each use case launches with a specialized AI persona and pre-seeded requirements.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0624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Canvases wired on launch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0624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Clicking a use case pre-configures Migration Canvas, Digital Twin, Supply Chain in one step.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8328" y="5623560"/>
            <a:ext cx="363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Readiness score keeps you honest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8328" y="5879592"/>
            <a:ext cx="3636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0E6F0"/>
                </a:solidFill>
              </a:rPr>
              <a:t>7-dimension scoring surfaces gaps before you build, not after you deploy.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13 Use Cases. Real Problems. Minutes to Launch.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Pre-built expert workflows — requirements loaded, canvases wired, AI persona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666744" cy="27889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965959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General Modernization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68295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12 requirements pre-loaded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642615"/>
            <a:ext cx="3447288" cy="27432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4319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Describe your legacy system in plain English.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0895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ICDEV wires Migration Canvas + Digital Twin.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7471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3 COAs: Speed / Balanced / Comprehensive.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84047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7Rs classification: Retire → Re-architect.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2062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Output: migration plan with IaC and timeline.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1104" y="1874519"/>
            <a:ext cx="3666744" cy="27889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59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Year-End Budget Sprint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368295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14 requirements pre-loaded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0832" y="2642615"/>
            <a:ext cx="3447288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2" y="274319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What do you need to spend before FY-end?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10895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ICDEV generates BOM, IGCE, and SOW in minutes.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47471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FAR/DFARS + Section 889 checked automatically.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384047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Digital Twin projects budget vs. outcome.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42062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Output: CSV/XLSX BOM with contract vehicles.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9288" y="1874519"/>
            <a:ext cx="3666744" cy="2788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9016" y="1965959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Crowd-Sourced Doc Refresh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9016" y="2368295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A951"/>
                </a:solidFill>
              </a:rPr>
              <a:t>10 requirements pre-loaded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2642615"/>
            <a:ext cx="3447288" cy="27432"/>
          </a:xfrm>
          <a:prstGeom prst="rect">
            <a:avLst/>
          </a:prstGeom>
          <a:solidFill>
            <a:srgbClr val="17A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74319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Which document is stale?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310895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Staleness detected: dates, deprecated references.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47471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Role-weighted crowd voting on edits.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9016" y="384047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AI rebuilds approved sections.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2062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E6F0"/>
                </a:solidFill>
              </a:rPr>
              <a:t>▸  Output: version-controlled doc with audit trail.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809744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951"/>
                </a:solidFill>
              </a:rPr>
              <a:t>Plus 10 more expert workflows: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ATO Package Builder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15 reqs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56001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9153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CDRL Generator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9153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12 reqs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09083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2235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Incident Response 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2235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62164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35316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Program Status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5316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8 reqs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15246" y="5120640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88398" y="5157216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SBOM Attestation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8398" y="5413248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FedRAMP Auth Prep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15 reqs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56001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29153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Privacy Impact Assessment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29153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9083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82235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Section 508 Audit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82235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8 reqs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62164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35316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Grant Tech Proposal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35316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10 reqs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15246" y="5687568"/>
            <a:ext cx="2170785" cy="5029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88398" y="5724144"/>
            <a:ext cx="202448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E6F0"/>
                </a:solidFill>
              </a:rPr>
              <a:t>CJIS Compliance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88398" y="5980176"/>
            <a:ext cx="202448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8A951"/>
                </a:solidFill>
              </a:rPr>
              <a:t>12 reqs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327648"/>
            <a:ext cx="11183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E3A5F"/>
                </a:solidFill>
              </a:rPr>
              <a:t>Add new use cases by editing args/use_cases.yaml — zero Python required.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Digital Program Twin — See the Future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Simulate outcomes across six dimensions before committing a single requirement.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Components, coupling,
API surface, data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4392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9256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9256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Control coverage,
boundary tier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5864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0728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Supply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0728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Dependencies, vendors,
SBOM delta, CVE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PERT estimates, critical
path, PI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8808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3672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3672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T-shirt roll-up, infra
delta, vendor licensing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60280" y="1874519"/>
            <a:ext cx="182575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5144" y="1965959"/>
            <a:ext cx="17160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5144" y="2404871"/>
            <a:ext cx="1716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Compound score, risk
interactions, mitigation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0712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951"/>
                </a:solidFill>
              </a:rPr>
              <a:t>10,000 Monte Carlo iterations  →  P10 (optimistic)  /  P50 (likely)  /  P80 (reserve)  /  P90 (conservative)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0E6F0"/>
                </a:solidFill>
              </a:rPr>
              <a:t>Speed COA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1–2 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LOW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HIGH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P1 requirements only.
Fastest path to capability.
Technical debt incurred.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61104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2544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</a:rPr>
              <a:t>Balanced COA  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2–3 PIs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52544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MED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2544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MOD risk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P1 + P2. Best tradeoff.
Recommended for most programs.
Full capability delivery.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9288" y="3858768"/>
            <a:ext cx="3666744" cy="22128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0728" y="3950208"/>
            <a:ext cx="34838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0E6F0"/>
                </a:solidFill>
              </a:rPr>
              <a:t>Comprehensive COA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0728" y="437083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3–5 PIs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8" y="466344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HIGH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956048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CC71"/>
                </a:solidFill>
              </a:rPr>
              <a:t>LOW 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5294376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0E6F0"/>
                </a:solidFill>
              </a:rPr>
              <a:t>Full scope. All requirements.
Lowest residual risk.
Longest delivery timeline.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A951"/>
                </a:solidFill>
              </a:rPr>
              <a:t>No commercial platform offers program-level simulation with this depth. ICDEV™ is the only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FORGE Academy — 100 Developers in 8 Weeks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Gamified, role-based AI training purpose-built for government software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Role Tracks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9542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9542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9542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Missions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76164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6164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6164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Ranks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2787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2787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2787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Certifications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49409" y="1874519"/>
            <a:ext cx="2145182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9409" y="1920240"/>
            <a:ext cx="21451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A951"/>
                </a:solidFill>
              </a:rPr>
              <a:t>4 × 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9409" y="2423160"/>
            <a:ext cx="214518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Cohort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0E6F0"/>
                </a:solidFill>
              </a:rPr>
              <a:t>Recruit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0 XP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7246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6974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E0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6974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0E6F0"/>
                </a:solidFill>
              </a:rPr>
              <a:t>Operative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6974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500 XP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1300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31028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31028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</a:rPr>
              <a:t>Specialist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1028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2,000 XP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5355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5083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95083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Architect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5083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5,000 XP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9409" y="3337560"/>
            <a:ext cx="100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9137" y="2999232"/>
            <a:ext cx="2126894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9137" y="3044952"/>
            <a:ext cx="212689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951"/>
                </a:solidFill>
              </a:rPr>
              <a:t>Sensei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9137" y="3401568"/>
            <a:ext cx="212689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10,000+ XP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Role Tracks (12)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DevOps  ·  DataOps  ·  SecOps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SWE / Architect  ·  NetOps  ·  SRE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ISSO  ·  ISSM  ·  CISO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PM  ·  Analyst  ·  Leadership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1104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Certification Gates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1104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Foundation (8 wks) — Tier 1 + role Tier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1104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Practitioner (+4 wks) — design score ≥80 + GameDay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Expert (Capstone) — top-50% GameDay finish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1104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Auto-currency: Genesis daemon updates curriculum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9288" y="4133087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Developer Outcomes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19288" y="4526280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Day 1: deploys first LLM feature via ICDEV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9288" y="4873752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4: designs multi-agent system on AADC canvas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9288" y="5221224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8: Foundation-certified, Kanban-ready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9288" y="5568696"/>
            <a:ext cx="3666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▸  Week 12+: mentors next cohort (Sensei path)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AI GameDay — Skills Tested Under 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Live, AI-scored wargame. Four teams. Five injects. One After-Action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</a:rPr>
              <a:t>RED
THREAT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Attack design
Threat emulation
Exploit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1558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4710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86C1"/>
                </a:solidFill>
              </a:rPr>
              <a:t>BLUE
DEFENSE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4710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Incident response
Defense posture
Containment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196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3348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GOLD
INNOVATION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3348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Novel AI modules
Training pair generation
ML sprint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8834" y="1874519"/>
            <a:ext cx="2727198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1986" y="1965959"/>
            <a:ext cx="258089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CC71"/>
                </a:solidFill>
              </a:rPr>
              <a:t>GREEN
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1986" y="2496311"/>
            <a:ext cx="258089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NIST verdicts
Ethics assessment
Policy guidance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2160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Operation CIPHER FORGE — Five Injects (4-Hour Event)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Signal
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SIGINT threat
assessment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39542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12694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COA
Posture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2694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2694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Force posture
recommendation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76164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9316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Ransomware
Cascade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9316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9316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Contain, eradicate,
recover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12787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85939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Fine-Tune
Sprint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5939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Seq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5939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Generate + evaluate
ML training pairs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49409" y="4160520"/>
            <a:ext cx="2181758" cy="1261872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2561" y="4224528"/>
            <a:ext cx="203545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6C1"/>
                </a:solidFill>
              </a:rPr>
              <a:t>War Council
Brief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2561" y="4608576"/>
            <a:ext cx="20354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951"/>
                </a:solidFill>
              </a:rPr>
              <a:t>Final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2561" y="4873752"/>
            <a:ext cx="203545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0E6F0"/>
                </a:solidFill>
              </a:rPr>
              <a:t>Executive synthesis
of all learnings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5595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Scoring: Adversarial 40%  ·  Innovation 25%  ·  Compliance 20%  ·  Training Pairs 15%  ·  AI-judged  ·  Server-verified receipts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7044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Output: Auto-generated AAR  ·  Live leaderboard  ·  Fine-tune pairs feed directly into model improvement  ·  Required for Practitioner cert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Every Program Makes the Next One Faster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ICDEV™ generates living systems — they inherit the full platform and improve the shared knowledge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951"/>
                </a:solidFill>
              </a:rPr>
              <a:t>Programs built with ICDEV™ are not finished products. They are living systems.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603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951"/>
                </a:solidFill>
              </a:rPr>
              <a:t>Generated systems inherit the full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0632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Every app ICDEV builds gets its own FORGE framework, agent architecture, memory system, CI/CD, and canvas suite. They can build their own next features using the same ANVIL workflow that built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0196" y="25603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9924" y="26517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</a:rPr>
              <a:t>Knowledge compounds across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9924" y="30632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Every build adds to the shared knowledge graph. Patterns discovered in Program A are automatically surfaced when Program B starts the same task. Genesis daemon promotes proven patterns into new Academy missions.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605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42519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</a:rPr>
              <a:t>Teams get faster, not slower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6634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Each cohort of 25 developers who complete FORGE Academy become internal Senseis who train the next cohort. By Year 2, your AI Lab runs itself.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0196" y="4160520"/>
            <a:ext cx="5545836" cy="1463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4251960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7A58A"/>
                </a:solidFill>
              </a:rPr>
              <a:t>Compliance artifacts accumulate, not repeat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4663440"/>
            <a:ext cx="53263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Control evidence generated in Program A is reused by Program B. The crosswalk engine means you never map the same control twice. ATO becomes a natural output — developers don’t even think about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951"/>
                </a:solidFill>
              </a:rPr>
              <a:t>Year 1: stand up the lab.  Year 2: every program team is self-sufficient.  Year 3: your organization is the AI center of excellence.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Build Alone vs. Build With ICDEV™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The question is not whether to build — it’s whether to build with a platform or without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11095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874519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91109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Building Without ICDEV™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74519"/>
            <a:ext cx="4233672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91109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951"/>
                </a:solidFill>
              </a:rPr>
              <a:t>Building With ICDEV™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1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04287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Setup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267711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23042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Weeks of scaffolding before first feature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2267711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23042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First feature on Day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60903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79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2660903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697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Whiteboard → doc → ticket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60903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2697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Canvas → simulate → execute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54095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090671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capability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3054095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3090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Build LLM wrappers from scratch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054095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309067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12 canvases + 15 agents ready to go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447287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483863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Simulation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3447287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88920" y="34838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Spreadsheet estimates, best guesses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3447287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348386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Digital Twin: 6 dims, 3 COAs, Monte Carlo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840479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877055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Multi-cloud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7480" y="3840479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38770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Re-learn each CSP per program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840479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877055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 CSPs, IaC generation, equivalence maps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233671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270247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Legacy modernization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7480" y="4233671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88920" y="427024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Greenfield rebuild or nothing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4233671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27024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7Rs assessment + migration canvas + ATO bridge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26863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663439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Developer growth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97480" y="4626863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88920" y="46634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Ad hoc, on-the-job, expensive training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4626863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46634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FORGE Academy: 12 roles, certified in 8 weeks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020055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056631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Knowledge transfer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7480" y="5020055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8920" y="505663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Walks out the door when people leave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5020055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40880" y="5056631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Knowledge graph + Genesis daemon: never lost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413247"/>
            <a:ext cx="21762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5449823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Compliance artifacts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7480" y="5413247"/>
            <a:ext cx="4233672" cy="3840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88920" y="544982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Manual, post-hoc, months of ISSO time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5413247"/>
            <a:ext cx="423367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5449823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Generated automatically — a byproduct of building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016752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8A951"/>
                </a:solidFill>
              </a:rPr>
              <a:t>Compliance and ATO in the last row — because with ICDEV™, developers never have to think about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The AI Lab — What You’re Standing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A self-improving developer platform that trains your people and accelerates every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5676" y="2194560"/>
            <a:ext cx="36576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2836" y="230428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ICDEV™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2836" y="2779776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0E6F0"/>
                </a:solidFill>
              </a:rPr>
              <a:t>12 Canvases  ·  15 Agents  ·  FORGE + ANVIL
Digital Twin  ·  Chat + Use Cases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FORGE Academy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12 roles, 75 missions
4 cohorts × 25 devs, 8 wks
Certified AI workforce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AI GameDay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348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4 teams, 5 injects
Quarterly wargames
AAR + certification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4434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77072" y="201168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21031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Cloud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251460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AWS GovCloud / Azure Gov
K8s, 15 agents live
IL4+ 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25146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7072" y="3931920"/>
            <a:ext cx="301752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40233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100+ Developers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44348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E6F0"/>
                </a:solidFill>
              </a:rPr>
              <a:t>AI-trained, certified
Sensei bench by Month 8
Self-sustaining by Year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4434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951"/>
                </a:solidFill>
              </a:rPr>
              <a:t>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96128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0E6F0"/>
                </a:solidFill>
              </a:rPr>
              <a:t>Every program powered by ICDEV™ trains your team, improves the knowledge base, and generates its own compliance artifacts — compounding returns across the enterprise.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What We’re Asking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Three approvals. One platform. Returns from Day 90.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59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6C1"/>
                </a:solidFill>
              </a:rPr>
              <a:t>1. 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2-node Kubernetes cluster  ·  64 vCPU, 256 GB RAM, 10 TB NVMe
AWS Bedrock (Claude) or Azure OpenAI Gov access (IL4+)
GitLab EE + isolated lab VLAN + CAC auth
Timeline: 30-day procurement  ·  Budget: $150K–$300K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55847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47287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2.  Personnel (4 FTEs)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1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AI Lab Director — strategy, stakeholder liaison, program integration
Platform / MLOps Engineer — ICDEV deployment, agent health, LLM integration
Training Lead — Academy curriculum, cohort scheduling, GameDay facilitation
ISSO — lab authorization, audit trail review, POA&amp;M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37175"/>
            <a:ext cx="11183112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28615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951"/>
                </a:solidFill>
              </a:rPr>
              <a:t>3.  Budget Authority (Year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39"/>
            <a:ext cx="1090879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Infrastructure (cloud + K8s): $150K–$300K
Personnel (4 FTEs): $300K–$400K
Academy (4 cohorts × 25 devs) + GameDay (4 events): $120K–$160K
ICDEV™ platform: $0 (Apache 2.0 open source)
Total: $570K–$860K  against a Year-1 return of $4M–$6M+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A951"/>
                </a:solidFill>
              </a:rPr>
              <a:t>Why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6F0"/>
                </a:solidFill>
              </a:rPr>
              <a:t>The mandate to build AI-capable government software teams has arrived.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96595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951"/>
                </a:solidFill>
              </a:rPr>
              <a:t>OMB M-25-21 + M-26-04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8658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Federal agencies must demonstrate responsible, unbiased, transparent AI. ICDEV™ generates model cards, system cards, fairness assessments, and AI inventory automatically — as a byproduct of building.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0196" y="187451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9924" y="196595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C1"/>
                </a:solidFill>
              </a:rPr>
              <a:t>DoD AI Workforce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924" y="238658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DoD requires AI literacy across all personnel grades with NICE KSA alignment. FORGE Academy is already crosswalked to the DoD AI Workforce Framework. Every mission maps to a KSA.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9475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88619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The Competitive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30682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Organizations that build AI-native developer platforms now will have a 3–5 year head start over those that wait. The tools exist. The talent can be trained. The only question is whether you move first.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0196" y="3794759"/>
            <a:ext cx="5545836" cy="1783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7A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924" y="3886199"/>
            <a:ext cx="53263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A58A"/>
                </a:solidFill>
              </a:rPr>
              <a:t>The Cost of 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9924" y="4306823"/>
            <a:ext cx="53263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Every month without a platform is another month of developers re-inventing scaffolding, re-learning compliance, and re-training from scratch. The opportunity cost compounds just as fast as the returns would.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951"/>
                </a:solidFill>
              </a:rPr>
              <a:t>ICDEV™ is already mapped to every current federal AI mandate. Your organization doesn’t have to figure it out — we already did.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65392"/>
            <a:ext cx="10634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3A5F"/>
                </a:solidFill>
              </a:rPr>
              <a:t>ICDEV™  ·  A System That Builds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57432" y="6565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1E3A5F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8A951"/>
                </a:solidFill>
              </a:rPr>
              <a:t>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11183112" cy="36576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1–30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280160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Approve AI Lab stand-up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0784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Authorize infrastructure procurement. Designate AI Lab Director and ISSO. Begin FY procurement action. ICDEV™ deployed and health-checked by Day 30.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24912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1635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31–60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816352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Onboard first program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36976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First team onboarded to canvases. RICOAS intake session run. Digital Twin simulation executed. First set of compliance artifacts generated automatically — without anyone asking for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61104"/>
            <a:ext cx="11183112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5254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951"/>
                </a:solidFill>
              </a:rPr>
              <a:t>Day 61–90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352544"/>
            <a:ext cx="9537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Launch Academy Cohort 1 + GameDay 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73168"/>
            <a:ext cx="1090879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6F0"/>
                </a:solidFill>
              </a:rPr>
              <a:t>25 developers begin 8-week FORGE Academy track. AI GameDay #1 executed with 4 teams. AAR published. Lessons learned fed back into Academy curriculum automatically.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779008"/>
            <a:ext cx="11183112" cy="475488"/>
          </a:xfrm>
          <a:prstGeom prst="rect">
            <a:avLst/>
          </a:prstGeom>
          <a:solidFill>
            <a:srgbClr val="1E3A5F"/>
          </a:solidFill>
          <a:ln w="12700">
            <a:solidFill>
              <a:srgbClr val="C8A9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824728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951"/>
                </a:solidFill>
              </a:rPr>
              <a:t>One platform.  Every program.  Starting Day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
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83112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C8A951"/>
                </a:solidFill>
              </a:rPr>
              <a:t>A System That
Builds Systems.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606040"/>
            <a:ext cx="111831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</a:rPr>
              <a:t>ICDEV™  ·  The Developer Platform for Government AI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0" y="3246120"/>
            <a:ext cx="5239512" cy="27432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3383280"/>
            <a:ext cx="111831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E0E6F0"/>
                </a:solidFill>
              </a:rPr>
              <a:t>Adopt vs. Build  ·  Executive Briefing  ·  May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931920"/>
            <a:ext cx="2163470" cy="164592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4005072"/>
            <a:ext cx="216347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8A951"/>
                </a:solidFill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81728"/>
            <a:ext cx="216347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0E6F0"/>
                </a:solidFill>
              </a:rPr>
              <a:t>Design
Canvases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39542" y="3931920"/>
            <a:ext cx="2163470" cy="164592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39542" y="4005072"/>
            <a:ext cx="216347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8A951"/>
                </a:solidFill>
              </a:rPr>
              <a:t>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39542" y="4681728"/>
            <a:ext cx="216347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0E6F0"/>
                </a:solidFill>
              </a:rPr>
              <a:t>AI Agents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76164" y="3931920"/>
            <a:ext cx="2163470" cy="164592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76164" y="4005072"/>
            <a:ext cx="216347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8A951"/>
                </a:solidFill>
              </a:rPr>
              <a:t>530+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76164" y="4681728"/>
            <a:ext cx="216347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0E6F0"/>
                </a:solidFill>
              </a:rPr>
              <a:t>Deterministic
Tools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12787" y="3931920"/>
            <a:ext cx="2163470" cy="164592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12787" y="4005072"/>
            <a:ext cx="216347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8A951"/>
                </a:solidFill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12787" y="4681728"/>
            <a:ext cx="216347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0E6F0"/>
                </a:solidFill>
              </a:rPr>
              <a:t>Supported
Languages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449409" y="3931920"/>
            <a:ext cx="2163470" cy="164592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49409" y="4005072"/>
            <a:ext cx="216347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8A951"/>
                </a:solidFill>
              </a:rPr>
              <a:t>100+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49409" y="4681728"/>
            <a:ext cx="216347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0E6F0"/>
                </a:solidFill>
              </a:rPr>
              <a:t>Developers
Trained Year‑1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852160"/>
            <a:ext cx="111831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1E3A5F"/>
                </a:solidFill>
              </a:rPr>
              <a:t>Compliance artifacts generated automatically. ATO is the byproduct, not the goal.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31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8A951"/>
                </a:solidFill>
              </a:rPr>
              <a:t>What Developers Are Dealing With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417320"/>
            <a:ext cx="11183112" cy="36576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08760"/>
            <a:ext cx="111831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E6F0"/>
                </a:solidFill>
              </a:rPr>
              <a:t>Before they write a single line of mission code.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65392"/>
            <a:ext cx="10634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3A5F"/>
                </a:solidFill>
              </a:rPr>
              <a:t>ICDEV™  ·  A System That Builds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7432" y="656539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1E3A5F"/>
                </a:solidFill>
              </a:rPr>
              <a:t>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920240"/>
            <a:ext cx="11183112" cy="128016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011680"/>
            <a:ext cx="108539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A951"/>
                </a:solidFill>
              </a:rPr>
              <a:t>Months of setup before the first feature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395728"/>
            <a:ext cx="10853928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0E6F0"/>
                </a:solidFill>
              </a:rPr>
              <a:t>Infrastructure provisioning, compliance scaffolding, CI/CD pipeline wiring, dependency audits — all before a single line of mission code is written. Developers spend more time getting ready to build than actually building.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337560"/>
            <a:ext cx="11183112" cy="128016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3429000"/>
            <a:ext cx="108539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A951"/>
                </a:solidFill>
              </a:rPr>
              <a:t>Knowledge that lives in people, not systems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3813048"/>
            <a:ext cx="10853928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0E6F0"/>
                </a:solidFill>
              </a:rPr>
              <a:t>Security architect, ISSO, infrastructure engineer, CI/CD expert — remove any one person and the program stalls. Every team re-invents the same wheel on every program.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754880"/>
            <a:ext cx="11183112" cy="128016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4846320"/>
            <a:ext cx="108539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A951"/>
                </a:solidFill>
              </a:rPr>
              <a:t>Complexity that grows faster than teams can absorb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" y="5230368"/>
            <a:ext cx="10853928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0E6F0"/>
                </a:solidFill>
              </a:rPr>
              <a:t>Modern government software requires multi-cloud IaC, AI governance, supply chain integrity, zero-trust architecture, and six languages — simultaneously. No individual team can master all of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172200"/>
            <a:ext cx="111831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8A951"/>
                </a:solidFill>
              </a:rPr>
              <a:t>The problem is not that developers lack skill. The problem is that they lack a platform.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65392"/>
            <a:ext cx="10634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3A5F"/>
                </a:solidFill>
              </a:rPr>
              <a:t>ICDEV™  ·  A System That Builds Systems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57432" y="656539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1E3A5F"/>
                </a:solidFill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11480"/>
            <a:ext cx="1118311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C8A951"/>
                </a:solidFill>
              </a:rPr>
              <a:t>What if your platform could build
your next platform?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783080"/>
            <a:ext cx="11183112" cy="36576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920240"/>
            <a:ext cx="111831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0E6F0"/>
                </a:solidFill>
              </a:rPr>
              <a:t>ICDEV™ is a meta-builder. It generates complete, working systems from plain English — systems that themselves can build features using the same engine.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606040"/>
            <a:ext cx="2126894" cy="1234440"/>
          </a:xfrm>
          <a:prstGeom prst="rect">
            <a:avLst/>
          </a:prstGeom>
          <a:solidFill>
            <a:srgbClr val="1E3A5F"/>
          </a:solidFill>
          <a:ln w="12700">
            <a:solidFill>
              <a:srgbClr val="E0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880360"/>
            <a:ext cx="212689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0E6F0"/>
                </a:solidFill>
              </a:rPr>
              <a:t>Plain English
Requirements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9814" y="3044952"/>
            <a:ext cx="137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8A951"/>
                </a:solidFill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66974" y="2606040"/>
            <a:ext cx="2126894" cy="123444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66974" y="2880360"/>
            <a:ext cx="212689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8A951"/>
                </a:solidFill>
              </a:rPr>
              <a:t>12 Design
Canvases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3868" y="3044952"/>
            <a:ext cx="137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8A951"/>
                </a:solidFill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31028" y="2606040"/>
            <a:ext cx="2126894" cy="1234440"/>
          </a:xfrm>
          <a:prstGeom prst="rect">
            <a:avLst/>
          </a:prstGeom>
          <a:solidFill>
            <a:srgbClr val="1E3A5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31028" y="2880360"/>
            <a:ext cx="212689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E86C1"/>
                </a:solidFill>
              </a:rPr>
              <a:t>FORGE
Workflow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57923" y="3044952"/>
            <a:ext cx="137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8A951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95083" y="2606040"/>
            <a:ext cx="2126894" cy="1234440"/>
          </a:xfrm>
          <a:prstGeom prst="rect">
            <a:avLst/>
          </a:prstGeom>
          <a:solidFill>
            <a:srgbClr val="1E3A5F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95083" y="2880360"/>
            <a:ext cx="212689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ECC71"/>
                </a:solidFill>
              </a:rPr>
              <a:t>ANVIL
Build Cycle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21977" y="3044952"/>
            <a:ext cx="137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8A951"/>
                </a:solidFill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559137" y="2606040"/>
            <a:ext cx="2126894" cy="123444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59137" y="2880360"/>
            <a:ext cx="212689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8A951"/>
                </a:solidFill>
              </a:rPr>
              <a:t>Working
System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069080"/>
            <a:ext cx="3666744" cy="210312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" y="4178808"/>
            <a:ext cx="344728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A951"/>
                </a:solidFill>
              </a:rPr>
              <a:t>Canvases are
your design environment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" y="4754880"/>
            <a:ext cx="3447288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12 visual builders where developers think, design, and execute across every domain — network, security, data, AI, pipeline, and more.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61104" y="4069080"/>
            <a:ext cx="3666744" cy="2103120"/>
          </a:xfrm>
          <a:prstGeom prst="rect">
            <a:avLst/>
          </a:prstGeom>
          <a:solidFill>
            <a:srgbClr val="1E3A5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70832" y="4178808"/>
            <a:ext cx="344728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86C1"/>
                </a:solidFill>
              </a:rPr>
              <a:t>Digital Twin
simulates the outcome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70832" y="4754880"/>
            <a:ext cx="3447288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Before writing a line of code, run a 6-dimension simulation. Get three Courses of Action with cost, schedule, and risk projections.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19288" y="4069080"/>
            <a:ext cx="3666744" cy="2103120"/>
          </a:xfrm>
          <a:prstGeom prst="rect">
            <a:avLst/>
          </a:prstGeom>
          <a:solidFill>
            <a:srgbClr val="1E3A5F"/>
          </a:solidFill>
          <a:ln w="12700">
            <a:solidFill>
              <a:srgbClr val="17A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29016" y="4178808"/>
            <a:ext cx="344728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7A58A"/>
                </a:solidFill>
              </a:rPr>
              <a:t>Use Cases
launch in minutes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29016" y="4754880"/>
            <a:ext cx="3447288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Pre-built expert workflows for real government problems — modernization, budget execution, doc refresh — with canvas wiring done for you.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31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8A951"/>
                </a:solidFill>
              </a:rPr>
              <a:t>FORGE — The Engine Underneath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417320"/>
            <a:ext cx="11183112" cy="36576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08760"/>
            <a:ext cx="111831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E6F0"/>
                </a:solidFill>
              </a:rPr>
              <a:t>Six layers that separate what to build from how to build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65392"/>
            <a:ext cx="10634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3A5F"/>
                </a:solidFill>
              </a:rPr>
              <a:t>ICDEV™  ·  A System That Builds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7432" y="656539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1E3A5F"/>
                </a:solidFill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874519"/>
            <a:ext cx="1825752" cy="265176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072" y="1984247"/>
            <a:ext cx="16794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8A951"/>
                </a:solidFill>
              </a:rPr>
              <a:t>Goals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2468879"/>
            <a:ext cx="1642872" cy="27432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2560319"/>
            <a:ext cx="167944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0E6F0"/>
                </a:solidFill>
              </a:rPr>
              <a:t>What to achieve.
Which tools. Expected
outputs. 66 workflows.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74392" y="1874519"/>
            <a:ext cx="1825752" cy="265176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47544" y="1984247"/>
            <a:ext cx="16794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8A951"/>
                </a:solidFill>
              </a:rPr>
              <a:t>Orchestration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65832" y="2468879"/>
            <a:ext cx="1642872" cy="27432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47544" y="2560319"/>
            <a:ext cx="167944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0E6F0"/>
                </a:solidFill>
              </a:rPr>
              <a:t>AI reasons here.
Decides tool order.
Handles errors.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45864" y="1874519"/>
            <a:ext cx="1825752" cy="265176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19016" y="1984247"/>
            <a:ext cx="16794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8A951"/>
                </a:solidFill>
              </a:rPr>
              <a:t>Tools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7304" y="2468879"/>
            <a:ext cx="1642872" cy="27432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19016" y="2560319"/>
            <a:ext cx="167944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0E6F0"/>
                </a:solidFill>
              </a:rPr>
              <a:t>530+ Python scripts.
One job each.
Fully deterministic.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17336" y="1874519"/>
            <a:ext cx="1825752" cy="265176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90488" y="1984247"/>
            <a:ext cx="16794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8A951"/>
                </a:solidFill>
              </a:rPr>
              <a:t>Args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08776" y="2468879"/>
            <a:ext cx="1642872" cy="27432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90488" y="2560319"/>
            <a:ext cx="167944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0E6F0"/>
                </a:solidFill>
              </a:rPr>
              <a:t>YAML/JSON config.
Change behavior
without editing code.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88808" y="1874519"/>
            <a:ext cx="1825752" cy="265176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61960" y="1984247"/>
            <a:ext cx="16794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8A951"/>
                </a:solidFill>
              </a:rPr>
              <a:t>Context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80248" y="2468879"/>
            <a:ext cx="1642872" cy="27432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61960" y="2560319"/>
            <a:ext cx="167944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0E6F0"/>
                </a:solidFill>
              </a:rPr>
              <a:t>Static reference.
Compliance catalogs.
Tone and standards.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860280" y="1874519"/>
            <a:ext cx="1825752" cy="265176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933432" y="1984247"/>
            <a:ext cx="16794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8A951"/>
                </a:solidFill>
              </a:rPr>
              <a:t>Hard Prompts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951720" y="2468879"/>
            <a:ext cx="1642872" cy="27432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33432" y="2560319"/>
            <a:ext cx="167944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0E6F0"/>
                </a:solidFill>
              </a:rPr>
              <a:t>Reusable LLM
instruction templates
across all workflows.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4709160"/>
            <a:ext cx="111831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A951"/>
                </a:solidFill>
              </a:rPr>
              <a:t>Why this matters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5193792"/>
            <a:ext cx="11183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0E6F0"/>
                </a:solidFill>
              </a:rPr>
              <a:t>LLMs are probabilistic. At 90% accuracy per step, a 5-step workflow degrades to ~59% end-to-end. FORGE confines AI reasoning to orchestration only. Every tool call is deterministic Python. Developers get reliable, repeatable, auditable delivery — not prompt roulette.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31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8A951"/>
                </a:solidFill>
              </a:rPr>
              <a:t>ANVIL — Every Feature, Fully Assembled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417320"/>
            <a:ext cx="11183112" cy="36576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08760"/>
            <a:ext cx="111831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E6F0"/>
                </a:solidFill>
              </a:rPr>
              <a:t>Five-phase build cycle. Runs automatically on every feature request.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65392"/>
            <a:ext cx="10634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3A5F"/>
                </a:solidFill>
              </a:rPr>
              <a:t>ICDEV™  ·  A System That Builds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7432" y="656539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1E3A5F"/>
                </a:solidFill>
              </a:rP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920240"/>
            <a:ext cx="2126894" cy="2926080"/>
          </a:xfrm>
          <a:prstGeom prst="rect">
            <a:avLst/>
          </a:prstGeom>
          <a:solidFill>
            <a:srgbClr val="1E3A5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029968"/>
            <a:ext cx="212689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E86C1"/>
                </a:solidFill>
              </a:rPr>
              <a:t>Architect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2514600"/>
            <a:ext cx="1944014" cy="2743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2633472"/>
            <a:ext cx="198059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0E6F0"/>
                </a:solidFill>
              </a:rPr>
              <a:t>Design and acceptance
criteria defined up
front. No surprises.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8102" y="3246120"/>
            <a:ext cx="1097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8A951"/>
                </a:solidFill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66974" y="1920240"/>
            <a:ext cx="2126894" cy="2926080"/>
          </a:xfrm>
          <a:prstGeom prst="rect">
            <a:avLst/>
          </a:prstGeom>
          <a:solidFill>
            <a:srgbClr val="1E3A5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66974" y="2029968"/>
            <a:ext cx="212689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E86C1"/>
                </a:solidFill>
              </a:rPr>
              <a:t>Navigate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58414" y="2514600"/>
            <a:ext cx="1944014" cy="2743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40126" y="2633472"/>
            <a:ext cx="198059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0E6F0"/>
                </a:solidFill>
              </a:rPr>
              <a:t>Map to existing tools
and patterns. Reuse
before you build.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12156" y="3246120"/>
            <a:ext cx="1097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8A951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31028" y="1920240"/>
            <a:ext cx="2126894" cy="2926080"/>
          </a:xfrm>
          <a:prstGeom prst="rect">
            <a:avLst/>
          </a:prstGeom>
          <a:solidFill>
            <a:srgbClr val="1E3A5F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31028" y="2029968"/>
            <a:ext cx="212689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E74C3C"/>
                </a:solidFill>
              </a:rPr>
              <a:t>Verify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2468" y="2514600"/>
            <a:ext cx="1944014" cy="2743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04180" y="2633472"/>
            <a:ext cx="198059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0E6F0"/>
                </a:solidFill>
              </a:rPr>
              <a:t>Failing tests written
first. The spec IS
the test. (RED)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76211" y="3246120"/>
            <a:ext cx="1097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8A951"/>
                </a:solidFill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95083" y="1920240"/>
            <a:ext cx="2126894" cy="2926080"/>
          </a:xfrm>
          <a:prstGeom prst="rect">
            <a:avLst/>
          </a:prstGeom>
          <a:solidFill>
            <a:srgbClr val="1E3A5F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95083" y="2029968"/>
            <a:ext cx="212689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ECC71"/>
                </a:solidFill>
              </a:rPr>
              <a:t>Integrate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86523" y="2514600"/>
            <a:ext cx="1944014" cy="2743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68235" y="2633472"/>
            <a:ext cx="198059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0E6F0"/>
                </a:solidFill>
              </a:rPr>
              <a:t>Implementation
generated until every
test passes. (GREEN)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40265" y="3246120"/>
            <a:ext cx="1097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8A951"/>
                </a:solidFill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59137" y="1920240"/>
            <a:ext cx="2126894" cy="292608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59137" y="2029968"/>
            <a:ext cx="212689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8A951"/>
                </a:solidFill>
              </a:rPr>
              <a:t>Launch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50577" y="2514600"/>
            <a:ext cx="1944014" cy="27432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32289" y="2633472"/>
            <a:ext cx="198059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0E6F0"/>
                </a:solidFill>
              </a:rPr>
              <a:t>Refactor, scan,
compliance map,
merge to main.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5074920"/>
            <a:ext cx="111831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A951"/>
                </a:solidFill>
              </a:rPr>
              <a:t>Every ANVIL run produces: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5440680"/>
            <a:ext cx="219090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 Working, tested code in 6 languages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39542" y="5440680"/>
            <a:ext cx="219090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 Security scan report (SAST, deps, secrets)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76164" y="5440680"/>
            <a:ext cx="219090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 SBOM and compliance artifacts — automatically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12787" y="5440680"/>
            <a:ext cx="219090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 CI/CD pipeline wired and passing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49409" y="5440680"/>
            <a:ext cx="219090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 Deployment-ready container image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31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8A951"/>
                </a:solidFill>
              </a:rPr>
              <a:t>12 Design Canvases — Your Thinking Environment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417320"/>
            <a:ext cx="11183112" cy="36576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08760"/>
            <a:ext cx="111831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E6F0"/>
                </a:solidFill>
              </a:rPr>
              <a:t>Design visually. Query in plain English. Execute with a click.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65392"/>
            <a:ext cx="10634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3A5F"/>
                </a:solidFill>
              </a:rPr>
              <a:t>ICDEV™  ·  A System That Builds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7432" y="656539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1E3A5F"/>
                </a:solidFill>
              </a:rPr>
              <a:t>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874519"/>
            <a:ext cx="2727198" cy="1170432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47671"/>
            <a:ext cx="25443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A951"/>
                </a:solidFill>
              </a:rPr>
              <a:t>NDC  ·  Network Design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331719"/>
            <a:ext cx="25443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Topology, multi-cloud, compliance overlay, cost modeling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21558" y="1874519"/>
            <a:ext cx="2727198" cy="1170432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12998" y="1947671"/>
            <a:ext cx="25443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A951"/>
                </a:solidFill>
              </a:rPr>
              <a:t>SDC  ·  Security Design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2998" y="2331719"/>
            <a:ext cx="25443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Threat modeling, ATT&amp;CK mapping, gap detection, auto-fix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40196" y="1874519"/>
            <a:ext cx="2727198" cy="1170432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1636" y="1947671"/>
            <a:ext cx="25443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A951"/>
                </a:solidFill>
              </a:rPr>
              <a:t>PDC  ·  Pipeline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1636" y="2331719"/>
            <a:ext cx="25443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Visual CI/CD, SLSA, OWASP coverage, cost estimate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58834" y="1874519"/>
            <a:ext cx="2727198" cy="1170432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50274" y="1947671"/>
            <a:ext cx="25443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A951"/>
                </a:solidFill>
              </a:rPr>
              <a:t>BDC  ·  Boundary Design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0274" y="2331719"/>
            <a:ext cx="25443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System boundary, interface agreements, configuration control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118103"/>
            <a:ext cx="2727198" cy="1170432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191255"/>
            <a:ext cx="25443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A951"/>
                </a:solidFill>
              </a:rPr>
              <a:t>DDC  ·  Data Design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3575303"/>
            <a:ext cx="25443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Classification zones, PII/CUI tracking, data lineage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21558" y="3118103"/>
            <a:ext cx="2727198" cy="1170432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12998" y="3191255"/>
            <a:ext cx="25443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A951"/>
                </a:solidFill>
              </a:rPr>
              <a:t>ODC  ·  Observability Design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12998" y="3575303"/>
            <a:ext cx="25443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Detection coverage, Sigma rules, alerting topology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0196" y="3118103"/>
            <a:ext cx="2727198" cy="1170432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31636" y="3191255"/>
            <a:ext cx="25443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A951"/>
                </a:solidFill>
              </a:rPr>
              <a:t>IDC  ·  Infrastructure Design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31636" y="3575303"/>
            <a:ext cx="25443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IaC resources, 6 cloud providers, Terraform generation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58834" y="3118103"/>
            <a:ext cx="2727198" cy="1170432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50274" y="3191255"/>
            <a:ext cx="25443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A951"/>
                </a:solidFill>
              </a:rPr>
              <a:t>AADC  ·  Agentic AI Design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0274" y="3575303"/>
            <a:ext cx="25443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7 solution packs, 40+ node types, AI risk register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361687"/>
            <a:ext cx="2727198" cy="1170432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4434839"/>
            <a:ext cx="25443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A951"/>
                </a:solidFill>
              </a:rPr>
              <a:t>QDC  ·  Quality Design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4818887"/>
            <a:ext cx="25443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Code quality gates, test coverage, maintainability scoring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21558" y="4361687"/>
            <a:ext cx="2727198" cy="1170432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12998" y="4434839"/>
            <a:ext cx="25443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A951"/>
                </a:solidFill>
              </a:rPr>
              <a:t>MDC  ·  Migration Design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12998" y="4818887"/>
            <a:ext cx="25443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7R assessment, strangler fig tracking, cutover planning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40196" y="4361687"/>
            <a:ext cx="2727198" cy="1170432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1636" y="4434839"/>
            <a:ext cx="25443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A951"/>
                </a:solidFill>
              </a:rPr>
              <a:t>AIMC  ·  AI/ML Model Design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31636" y="4818887"/>
            <a:ext cx="25443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Foundation model catalog, deployment patterns, IL levels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58834" y="4361687"/>
            <a:ext cx="2727198" cy="1170432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50274" y="4434839"/>
            <a:ext cx="25443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A951"/>
                </a:solidFill>
              </a:rPr>
              <a:t>MSN  ·  Mission Canvas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50274" y="4818887"/>
            <a:ext cx="25443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Strategic planning, operational design, COA visualization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6144768"/>
            <a:ext cx="111831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3A5F"/>
                </a:solidFill>
              </a:rPr>
              <a:t>Every canvas: natural-language IQE queries · knowledge graph indexing · simulation-ready · air-gap safe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31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8A951"/>
                </a:solidFill>
              </a:rPr>
              <a:t>A Canvas in Action — Network Design (NDC)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417320"/>
            <a:ext cx="11183112" cy="36576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08760"/>
            <a:ext cx="111831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E6F0"/>
                </a:solidFill>
              </a:rPr>
              <a:t>From blank topology to compliant architecture in one session.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65392"/>
            <a:ext cx="10634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3A5F"/>
                </a:solidFill>
              </a:rPr>
              <a:t>ICDEV™  ·  A System That Builds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7432" y="656539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1E3A5F"/>
                </a:solidFill>
              </a:rPr>
              <a:t>7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920240"/>
            <a:ext cx="2727198" cy="3200400"/>
          </a:xfrm>
          <a:prstGeom prst="rect">
            <a:avLst/>
          </a:prstGeom>
          <a:solidFill>
            <a:srgbClr val="1E3A5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029968"/>
            <a:ext cx="254431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86C1"/>
                </a:solidFill>
              </a:rPr>
              <a:t>1  Drag + Drop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2514600"/>
            <a:ext cx="2544318" cy="2743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633472"/>
            <a:ext cx="2544318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Developer places cloud resources on the canvas: VPCs, subnets, load balancers, managed services. No Terraform yet. Just thinking visually.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21558" y="1920240"/>
            <a:ext cx="2727198" cy="3200400"/>
          </a:xfrm>
          <a:prstGeom prst="rect">
            <a:avLst/>
          </a:prstGeom>
          <a:solidFill>
            <a:srgbClr val="1E3A5F"/>
          </a:solidFill>
          <a:ln w="12700">
            <a:solidFill>
              <a:srgbClr val="17A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2998" y="2029968"/>
            <a:ext cx="254431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7A58A"/>
                </a:solidFill>
              </a:rPr>
              <a:t>2  Ask a Question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2998" y="2514600"/>
            <a:ext cx="2544318" cy="27432"/>
          </a:xfrm>
          <a:prstGeom prst="rect">
            <a:avLst/>
          </a:prstGeom>
          <a:solidFill>
            <a:srgbClr val="17A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12998" y="2633472"/>
            <a:ext cx="2544318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"What's my blast radius if the east subnet goes down?"  IQE runs a natural language query over the live diagram. Answer in &lt;1 second.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40196" y="1920240"/>
            <a:ext cx="2727198" cy="320040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1636" y="2029968"/>
            <a:ext cx="254431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A951"/>
                </a:solidFill>
              </a:rPr>
              <a:t>3  Run a Simulation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1636" y="2514600"/>
            <a:ext cx="2544318" cy="27432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31636" y="2633472"/>
            <a:ext cx="2544318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Click Simulate. Digital Twin scores the design across architecture, cost, and risk dimensions. Recommendations surface inline.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58834" y="1920240"/>
            <a:ext cx="2727198" cy="3200400"/>
          </a:xfrm>
          <a:prstGeom prst="rect">
            <a:avLst/>
          </a:prstGeom>
          <a:solidFill>
            <a:srgbClr val="1E3A5F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0274" y="2029968"/>
            <a:ext cx="254431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CC71"/>
                </a:solidFill>
              </a:rPr>
              <a:t>4  Export + Execute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50274" y="2514600"/>
            <a:ext cx="2544318" cy="2743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50274" y="2633472"/>
            <a:ext cx="2544318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Export to Terraform, Ansible, or K8s manifests with one click. ANVIL wires the CI/CD pipeline. The canvas becomes the system.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303520"/>
            <a:ext cx="111831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8A951"/>
                </a:solidFill>
              </a:rPr>
              <a:t>Same pattern works across all 12 canvases.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760720"/>
            <a:ext cx="111831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0E6F0"/>
                </a:solidFill>
              </a:rPr>
              <a:t>Design once on the canvas — ICDEV™ generates IaC, pipeline config, test scaffolding, and compliance evidence automatically. Developers ship. The platform handles the rest.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31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8A951"/>
                </a:solidFill>
              </a:rPr>
              <a:t>Unified Chat — Intent Becomes Software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417320"/>
            <a:ext cx="11183112" cy="36576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08760"/>
            <a:ext cx="111831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E6F0"/>
                </a:solidFill>
              </a:rPr>
              <a:t>Not a chatbot. A structured intake engine that wires canvases, agents, and tools for you.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65392"/>
            <a:ext cx="10634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3A5F"/>
                </a:solidFill>
              </a:rPr>
              <a:t>ICDEV™  ·  A System That Builds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7432" y="656539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1E3A5F"/>
                </a:solidFill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920240"/>
            <a:ext cx="2468880" cy="356616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081528" y="1920240"/>
            <a:ext cx="5029200" cy="3566160"/>
          </a:xfrm>
          <a:prstGeom prst="rect">
            <a:avLst/>
          </a:prstGeom>
          <a:solidFill>
            <a:srgbClr val="1E3A5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0456" y="1920240"/>
            <a:ext cx="3291840" cy="3566160"/>
          </a:xfrm>
          <a:prstGeom prst="rect">
            <a:avLst/>
          </a:prstGeom>
          <a:solidFill>
            <a:srgbClr val="1E3A5F"/>
          </a:solidFill>
          <a:ln w="12700">
            <a:solidFill>
              <a:srgbClr val="17A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01168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A951"/>
                </a:solidFill>
              </a:rPr>
              <a:t>Use Cases (13)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2423160"/>
            <a:ext cx="22494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8A951"/>
                </a:solidFill>
              </a:rPr>
              <a:t>+ New Chat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2752344"/>
            <a:ext cx="22494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8A951"/>
                </a:solidFill>
              </a:rPr>
              <a:t>▸ General Modernization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3081528"/>
            <a:ext cx="22494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▸ Year-End Budget Sprint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" y="3410712"/>
            <a:ext cx="22494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▸ Doc Refresh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3739896"/>
            <a:ext cx="22494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▸ ATO Package Builder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" y="4069080"/>
            <a:ext cx="22494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▸ CDRL Generator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" y="4398264"/>
            <a:ext cx="22494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▸ Incident Response Plan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" y="4727448"/>
            <a:ext cx="22494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▸ SBOM Attestation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" y="5056632"/>
            <a:ext cx="22494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E3A5F"/>
                </a:solidFill>
              </a:rPr>
              <a:t>▸ +5 more...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91256" y="2011680"/>
            <a:ext cx="480974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86C1"/>
                </a:solidFill>
              </a:rPr>
              <a:t>Message Stream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91256" y="2423160"/>
            <a:ext cx="4809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A951"/>
                </a:solidFill>
              </a:rPr>
              <a:t>You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91256" y="2624328"/>
            <a:ext cx="48097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We have a COBOL system that needs modernization.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91256" y="3108960"/>
            <a:ext cx="4809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7A58A"/>
                </a:solidFill>
              </a:rPr>
              <a:t>ICDEV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91256" y="3310128"/>
            <a:ext cx="48097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Got it. I've pre-loaded 12 modernization requirements and wired the Migration Canvas + Digital Twin. Readiness score: 78%. Shall I run a simulation?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1256" y="3794760"/>
            <a:ext cx="4809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A951"/>
                </a:solidFill>
              </a:rPr>
              <a:t>You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91256" y="3995928"/>
            <a:ext cx="48097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Yes, show me the three options.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91256" y="4480560"/>
            <a:ext cx="4809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7A58A"/>
                </a:solidFill>
              </a:rPr>
              <a:t>ICDEV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91256" y="4681728"/>
            <a:ext cx="48097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Running Digital Twin — 3 COAs ready. Speed: 1 PI. Balanced: 2 PI (recommended). Comprehensive: 4 PI. Sending to canvas now.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0184" y="2011680"/>
            <a:ext cx="30723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7A58A"/>
                </a:solidFill>
              </a:rPr>
              <a:t>Live Context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30184" y="2423160"/>
            <a:ext cx="307238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Readiness: 78 / 100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0184" y="2761488"/>
            <a:ext cx="307238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Requirements: 12 loaded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0184" y="3099816"/>
            <a:ext cx="307238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Migration Canvas: active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30184" y="3438144"/>
            <a:ext cx="307238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Digital Twin: ready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30184" y="3776472"/>
            <a:ext cx="307238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Supply Chain: queued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30184" y="4114800"/>
            <a:ext cx="307238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————————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30184" y="4453128"/>
            <a:ext cx="307238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AI Governance: active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30184" y="4791456"/>
            <a:ext cx="307238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Transparency: OK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30184" y="5129784"/>
            <a:ext cx="307238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Fairness: OK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5623560"/>
            <a:ext cx="36362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A951"/>
                </a:solidFill>
              </a:rPr>
              <a:t>Expert persona loaded automatically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5879592"/>
            <a:ext cx="36362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Each use case launches with a specialized AI persona and pre-seeded requirements.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30624" y="5623560"/>
            <a:ext cx="36362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A951"/>
                </a:solidFill>
              </a:rPr>
              <a:t>Canvases wired on launch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30624" y="5879592"/>
            <a:ext cx="36362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Clicking a use case pre-configures Migration Canvas, Digital Twin, Supply Chain in one step.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58328" y="5623560"/>
            <a:ext cx="36362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A951"/>
                </a:solidFill>
              </a:rPr>
              <a:t>Readiness score keeps you honest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58328" y="5879592"/>
            <a:ext cx="36362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7-dimension scoring surfaces gaps before you build, not after you deploy.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31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8A951"/>
                </a:solidFill>
              </a:rPr>
              <a:t>13 Use Cases. Real Problems. Minutes to Launch.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417320"/>
            <a:ext cx="11183112" cy="36576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08760"/>
            <a:ext cx="111831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E6F0"/>
                </a:solidFill>
              </a:rPr>
              <a:t>Pre-built expert workflows — requirements loaded, canvases wired, AI persona ready.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65392"/>
            <a:ext cx="10634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3A5F"/>
                </a:solidFill>
              </a:rPr>
              <a:t>ICDEV™  ·  A System That Builds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7432" y="656539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1E3A5F"/>
                </a:solidFill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874519"/>
            <a:ext cx="3666744" cy="278892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965959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A951"/>
                </a:solidFill>
              </a:rPr>
              <a:t>General Modernization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2368295"/>
            <a:ext cx="34472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8A951"/>
                </a:solidFill>
              </a:rPr>
              <a:t>12 requirements pre-loaded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" y="2642615"/>
            <a:ext cx="3447288" cy="27432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2743199"/>
            <a:ext cx="34472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0E6F0"/>
                </a:solidFill>
              </a:rPr>
              <a:t>▸  Describe your legacy system in plain English.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3108959"/>
            <a:ext cx="34472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0E6F0"/>
                </a:solidFill>
              </a:rPr>
              <a:t>▸  ICDEV wires Migration Canvas + Digital Twin.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3474719"/>
            <a:ext cx="34472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0E6F0"/>
                </a:solidFill>
              </a:rPr>
              <a:t>▸  3 COAs: Speed / Balanced / Comprehensive.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" y="3840479"/>
            <a:ext cx="34472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0E6F0"/>
                </a:solidFill>
              </a:rPr>
              <a:t>▸  7Rs classification: Retire → Re-architect.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4206239"/>
            <a:ext cx="34472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0E6F0"/>
                </a:solidFill>
              </a:rPr>
              <a:t>▸  Output: migration plan with IaC and timeline.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61104" y="1874519"/>
            <a:ext cx="3666744" cy="2788920"/>
          </a:xfrm>
          <a:prstGeom prst="rect">
            <a:avLst/>
          </a:prstGeom>
          <a:solidFill>
            <a:srgbClr val="1E3A5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70832" y="1965959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86C1"/>
                </a:solidFill>
              </a:rPr>
              <a:t>Year-End Budget Sprint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70832" y="2368295"/>
            <a:ext cx="34472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8A951"/>
                </a:solidFill>
              </a:rPr>
              <a:t>14 requirements pre-loaded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70832" y="2642615"/>
            <a:ext cx="3447288" cy="2743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70832" y="2743199"/>
            <a:ext cx="34472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0E6F0"/>
                </a:solidFill>
              </a:rPr>
              <a:t>▸  What do you need to spend before FY-end?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70832" y="3108959"/>
            <a:ext cx="34472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0E6F0"/>
                </a:solidFill>
              </a:rPr>
              <a:t>▸  ICDEV generates BOM, IGCE, and SOW in minutes.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70832" y="3474719"/>
            <a:ext cx="34472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0E6F0"/>
                </a:solidFill>
              </a:rPr>
              <a:t>▸  FAR/DFARS + Section 889 checked automatically.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70832" y="3840479"/>
            <a:ext cx="34472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0E6F0"/>
                </a:solidFill>
              </a:rPr>
              <a:t>▸  Digital Twin projects budget vs. outcome.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0832" y="4206239"/>
            <a:ext cx="34472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0E6F0"/>
                </a:solidFill>
              </a:rPr>
              <a:t>▸  Output: CSV/XLSX BOM with contract vehicles.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19288" y="1874519"/>
            <a:ext cx="3666744" cy="2788920"/>
          </a:xfrm>
          <a:prstGeom prst="rect">
            <a:avLst/>
          </a:prstGeom>
          <a:solidFill>
            <a:srgbClr val="1E3A5F"/>
          </a:solidFill>
          <a:ln w="12700">
            <a:solidFill>
              <a:srgbClr val="17A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29016" y="1965959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7A58A"/>
                </a:solidFill>
              </a:rPr>
              <a:t>Crowd-Sourced Doc Refresh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29016" y="2368295"/>
            <a:ext cx="34472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8A951"/>
                </a:solidFill>
              </a:rPr>
              <a:t>10 requirements pre-loaded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29016" y="2642615"/>
            <a:ext cx="3447288" cy="27432"/>
          </a:xfrm>
          <a:prstGeom prst="rect">
            <a:avLst/>
          </a:prstGeom>
          <a:solidFill>
            <a:srgbClr val="17A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29016" y="2743199"/>
            <a:ext cx="34472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0E6F0"/>
                </a:solidFill>
              </a:rPr>
              <a:t>▸  Which document is stale?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29016" y="3108959"/>
            <a:ext cx="34472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0E6F0"/>
                </a:solidFill>
              </a:rPr>
              <a:t>▸  Staleness detected: dates, deprecated references.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29016" y="3474719"/>
            <a:ext cx="34472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0E6F0"/>
                </a:solidFill>
              </a:rPr>
              <a:t>▸  Role-weighted crowd voting on edits.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9016" y="3840479"/>
            <a:ext cx="34472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0E6F0"/>
                </a:solidFill>
              </a:rPr>
              <a:t>▸  AI rebuilds approved sections.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29016" y="4206239"/>
            <a:ext cx="34472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0E6F0"/>
                </a:solidFill>
              </a:rPr>
              <a:t>▸  Output: version-controlled doc with audit trail.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4809744"/>
            <a:ext cx="11183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A951"/>
                </a:solidFill>
              </a:rPr>
              <a:t>Plus 10 more expert workflows: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5120640"/>
            <a:ext cx="2170785" cy="50292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6072" y="5157216"/>
            <a:ext cx="2024481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0E6F0"/>
                </a:solidFill>
              </a:rPr>
              <a:t>ATO Package Builder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6072" y="5413248"/>
            <a:ext cx="2024481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8A951"/>
                </a:solidFill>
              </a:rPr>
              <a:t>15 reqs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56001" y="5120640"/>
            <a:ext cx="2170785" cy="50292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829153" y="5157216"/>
            <a:ext cx="2024481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0E6F0"/>
                </a:solidFill>
              </a:rPr>
              <a:t>CDRL Generator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29153" y="5413248"/>
            <a:ext cx="2024481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8A951"/>
                </a:solidFill>
              </a:rPr>
              <a:t>12 reqs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09083" y="5120640"/>
            <a:ext cx="2170785" cy="50292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82235" y="5157216"/>
            <a:ext cx="2024481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0E6F0"/>
                </a:solidFill>
              </a:rPr>
              <a:t>Incident Response Plan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82235" y="5413248"/>
            <a:ext cx="2024481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8A951"/>
                </a:solidFill>
              </a:rPr>
              <a:t>10 reqs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262164" y="5120640"/>
            <a:ext cx="2170785" cy="50292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35316" y="5157216"/>
            <a:ext cx="2024481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0E6F0"/>
                </a:solidFill>
              </a:rPr>
              <a:t>Program Status Review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35316" y="5413248"/>
            <a:ext cx="2024481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8A951"/>
                </a:solidFill>
              </a:rPr>
              <a:t>8 reqs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515246" y="5120640"/>
            <a:ext cx="2170785" cy="50292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588398" y="5157216"/>
            <a:ext cx="2024481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0E6F0"/>
                </a:solidFill>
              </a:rPr>
              <a:t>SBOM Attestation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88398" y="5413248"/>
            <a:ext cx="2024481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8A951"/>
                </a:solidFill>
              </a:rPr>
              <a:t>10 reqs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5687568"/>
            <a:ext cx="2170785" cy="50292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6072" y="5724144"/>
            <a:ext cx="2024481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0E6F0"/>
                </a:solidFill>
              </a:rPr>
              <a:t>FedRAMP Auth Prep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76072" y="5980176"/>
            <a:ext cx="2024481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8A951"/>
                </a:solidFill>
              </a:rPr>
              <a:t>15 reqs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756001" y="5687568"/>
            <a:ext cx="2170785" cy="50292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829153" y="5724144"/>
            <a:ext cx="2024481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0E6F0"/>
                </a:solidFill>
              </a:rPr>
              <a:t>Privacy Impact Assessment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29153" y="5980176"/>
            <a:ext cx="2024481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8A951"/>
                </a:solidFill>
              </a:rPr>
              <a:t>10 reqs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09083" y="5687568"/>
            <a:ext cx="2170785" cy="50292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82235" y="5724144"/>
            <a:ext cx="2024481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0E6F0"/>
                </a:solidFill>
              </a:rPr>
              <a:t>Section 508 Audit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82235" y="5980176"/>
            <a:ext cx="2024481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8A951"/>
                </a:solidFill>
              </a:rPr>
              <a:t>8 reqs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262164" y="5687568"/>
            <a:ext cx="2170785" cy="50292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335316" y="5724144"/>
            <a:ext cx="2024481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0E6F0"/>
                </a:solidFill>
              </a:rPr>
              <a:t>Grant Tech Proposal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35316" y="5980176"/>
            <a:ext cx="2024481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8A951"/>
                </a:solidFill>
              </a:rPr>
              <a:t>10 reqs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515246" y="5687568"/>
            <a:ext cx="2170785" cy="50292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588398" y="5724144"/>
            <a:ext cx="2024481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0E6F0"/>
                </a:solidFill>
              </a:rPr>
              <a:t>CJIS Compliance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588398" y="5980176"/>
            <a:ext cx="2024481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8A951"/>
                </a:solidFill>
              </a:rPr>
              <a:t>12 reqs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2920" y="6327648"/>
            <a:ext cx="111831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1E3A5F"/>
                </a:solidFill>
              </a:rPr>
              <a:t>Add new use cases by editing args/use_cases.yaml — zero Python required.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31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8A951"/>
                </a:solidFill>
              </a:rPr>
              <a:t>Digital Program Twin — See the Future Before You Build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417320"/>
            <a:ext cx="11183112" cy="36576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08760"/>
            <a:ext cx="111831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E6F0"/>
                </a:solidFill>
              </a:rPr>
              <a:t>Simulate outcomes across six dimensions before committing a single requirement.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65392"/>
            <a:ext cx="10634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3A5F"/>
                </a:solidFill>
              </a:rPr>
              <a:t>ICDEV™  ·  A System That Builds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7432" y="656539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1E3A5F"/>
                </a:solidFill>
              </a:rP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874519"/>
            <a:ext cx="1825752" cy="1417320"/>
          </a:xfrm>
          <a:prstGeom prst="rect">
            <a:avLst/>
          </a:prstGeom>
          <a:solidFill>
            <a:srgbClr val="1E3A5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" y="1965959"/>
            <a:ext cx="17160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E86C1"/>
                </a:solidFill>
              </a:rPr>
              <a:t>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" y="2404871"/>
            <a:ext cx="17160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0E6F0"/>
                </a:solidFill>
              </a:rPr>
              <a:t>Components, coupling,
API surface, data flow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74392" y="1874519"/>
            <a:ext cx="1825752" cy="1417320"/>
          </a:xfrm>
          <a:prstGeom prst="rect">
            <a:avLst/>
          </a:prstGeom>
          <a:solidFill>
            <a:srgbClr val="1E3A5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29256" y="1965959"/>
            <a:ext cx="17160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E86C1"/>
                </a:solidFill>
              </a:rPr>
              <a:t>Compliance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29256" y="2404871"/>
            <a:ext cx="17160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0E6F0"/>
                </a:solidFill>
              </a:rPr>
              <a:t>Control coverage,
boundary tier impact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45864" y="1874519"/>
            <a:ext cx="1825752" cy="1417320"/>
          </a:xfrm>
          <a:prstGeom prst="rect">
            <a:avLst/>
          </a:prstGeom>
          <a:solidFill>
            <a:srgbClr val="1E3A5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00728" y="1965959"/>
            <a:ext cx="17160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E86C1"/>
                </a:solidFill>
              </a:rPr>
              <a:t>Supply Chain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0728" y="2404871"/>
            <a:ext cx="17160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0E6F0"/>
                </a:solidFill>
              </a:rPr>
              <a:t>Dependencies, vendors,
SBOM delta, CVE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17336" y="1874519"/>
            <a:ext cx="1825752" cy="1417320"/>
          </a:xfrm>
          <a:prstGeom prst="rect">
            <a:avLst/>
          </a:prstGeom>
          <a:solidFill>
            <a:srgbClr val="1E3A5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1965959"/>
            <a:ext cx="17160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E86C1"/>
                </a:solidFill>
              </a:rPr>
              <a:t>Schedule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2404871"/>
            <a:ext cx="17160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0E6F0"/>
                </a:solidFill>
              </a:rPr>
              <a:t>PERT estimates, critical
path, PI count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88808" y="1874519"/>
            <a:ext cx="1825752" cy="1417320"/>
          </a:xfrm>
          <a:prstGeom prst="rect">
            <a:avLst/>
          </a:prstGeom>
          <a:solidFill>
            <a:srgbClr val="1E3A5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3672" y="1965959"/>
            <a:ext cx="17160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E86C1"/>
                </a:solidFill>
              </a:rPr>
              <a:t>Cost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3672" y="2404871"/>
            <a:ext cx="17160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0E6F0"/>
                </a:solidFill>
              </a:rPr>
              <a:t>T-shirt roll-up, infra
delta, vendor licensing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860280" y="1874519"/>
            <a:ext cx="1825752" cy="1417320"/>
          </a:xfrm>
          <a:prstGeom prst="rect">
            <a:avLst/>
          </a:prstGeom>
          <a:solidFill>
            <a:srgbClr val="1E3A5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15144" y="1965959"/>
            <a:ext cx="17160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E86C1"/>
                </a:solidFill>
              </a:rPr>
              <a:t>Risk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15144" y="2404871"/>
            <a:ext cx="17160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0E6F0"/>
                </a:solidFill>
              </a:rPr>
              <a:t>Compound score, risk
interactions, mitigation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3410712"/>
            <a:ext cx="111831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8A951"/>
                </a:solidFill>
              </a:rPr>
              <a:t>10,000 Monte Carlo iterations  →  P10 (optimistic)  /  P50 (likely)  /  P80 (reserve)  /  P90 (conservative)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858768"/>
            <a:ext cx="3666744" cy="2212848"/>
          </a:xfrm>
          <a:prstGeom prst="rect">
            <a:avLst/>
          </a:prstGeom>
          <a:solidFill>
            <a:srgbClr val="1E3A5F"/>
          </a:solidFill>
          <a:ln w="12700">
            <a:solidFill>
              <a:srgbClr val="E0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50208"/>
            <a:ext cx="34838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E0E6F0"/>
                </a:solidFill>
              </a:rPr>
              <a:t>Speed COA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4370832"/>
            <a:ext cx="3483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1–2 PIs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4663440"/>
            <a:ext cx="3483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CC71"/>
                </a:solidFill>
              </a:rPr>
              <a:t>LOW cost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4956048"/>
            <a:ext cx="3483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HIGH risk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294376"/>
            <a:ext cx="348386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E0E6F0"/>
                </a:solidFill>
              </a:rPr>
              <a:t>P1 requirements only.
Fastest path to capability.
Technical debt incurred.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61104" y="3858768"/>
            <a:ext cx="3666744" cy="2212848"/>
          </a:xfrm>
          <a:prstGeom prst="rect">
            <a:avLst/>
          </a:prstGeom>
          <a:solidFill>
            <a:srgbClr val="1E3A5F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52544" y="3950208"/>
            <a:ext cx="34838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CC71"/>
                </a:solidFill>
              </a:rPr>
              <a:t>Balanced COA  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52544" y="4370832"/>
            <a:ext cx="3483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CC71"/>
                </a:solidFill>
              </a:rPr>
              <a:t>2–3 PIs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52544" y="4663440"/>
            <a:ext cx="3483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CC71"/>
                </a:solidFill>
              </a:rPr>
              <a:t>MED cost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52544" y="4956048"/>
            <a:ext cx="3483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CC71"/>
                </a:solidFill>
              </a:rPr>
              <a:t>MOD risk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52544" y="5294376"/>
            <a:ext cx="348386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E0E6F0"/>
                </a:solidFill>
              </a:rPr>
              <a:t>P1 + P2. Best tradeoff.
Recommended for most programs.
Full capability delivery.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19288" y="3858768"/>
            <a:ext cx="3666744" cy="2212848"/>
          </a:xfrm>
          <a:prstGeom prst="rect">
            <a:avLst/>
          </a:prstGeom>
          <a:solidFill>
            <a:srgbClr val="1E3A5F"/>
          </a:solidFill>
          <a:ln w="12700">
            <a:solidFill>
              <a:srgbClr val="E0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10728" y="3950208"/>
            <a:ext cx="34838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E0E6F0"/>
                </a:solidFill>
              </a:rPr>
              <a:t>Comprehensive COA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10728" y="4370832"/>
            <a:ext cx="3483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3–5 PIs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10728" y="4663440"/>
            <a:ext cx="3483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HIGH cost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956048"/>
            <a:ext cx="3483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CC71"/>
                </a:solidFill>
              </a:rPr>
              <a:t>LOW risk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10728" y="5294376"/>
            <a:ext cx="348386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E0E6F0"/>
                </a:solidFill>
              </a:rPr>
              <a:t>Full scope. All requirements.
Lowest residual risk.
Longest delivery timeline.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172200"/>
            <a:ext cx="111831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C8A951"/>
                </a:solidFill>
              </a:rPr>
              <a:t>No commercial platform offers program-level simulation with this depth. ICDEV™ is the only one.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31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8A951"/>
                </a:solidFill>
              </a:rPr>
              <a:t>FORGE Academy — 100 Developers in 8 Weeks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417320"/>
            <a:ext cx="11183112" cy="36576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08760"/>
            <a:ext cx="111831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E6F0"/>
                </a:solidFill>
              </a:rPr>
              <a:t>Gamified, role-based AI training purpose-built for government software teams.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65392"/>
            <a:ext cx="10634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3A5F"/>
                </a:solidFill>
              </a:rPr>
              <a:t>ICDEV™  ·  A System That Builds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7432" y="656539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1E3A5F"/>
                </a:solidFill>
              </a:rP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874519"/>
            <a:ext cx="2145182" cy="96012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920240"/>
            <a:ext cx="214518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8A951"/>
                </a:solidFill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423160"/>
            <a:ext cx="214518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0E6F0"/>
                </a:solidFill>
              </a:rPr>
              <a:t>Role Tracks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39542" y="1874519"/>
            <a:ext cx="2145182" cy="96012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39542" y="1920240"/>
            <a:ext cx="214518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8A951"/>
                </a:solidFill>
              </a:rPr>
              <a:t>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39542" y="2423160"/>
            <a:ext cx="214518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0E6F0"/>
                </a:solidFill>
              </a:rPr>
              <a:t>Missions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76164" y="1874519"/>
            <a:ext cx="2145182" cy="96012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76164" y="1920240"/>
            <a:ext cx="214518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8A951"/>
                </a:solidFill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76164" y="2423160"/>
            <a:ext cx="214518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0E6F0"/>
                </a:solidFill>
              </a:rPr>
              <a:t>Ranks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12787" y="1874519"/>
            <a:ext cx="2145182" cy="96012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12787" y="1920240"/>
            <a:ext cx="214518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8A951"/>
                </a:solidFill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12787" y="2423160"/>
            <a:ext cx="214518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0E6F0"/>
                </a:solidFill>
              </a:rPr>
              <a:t>Certifications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49409" y="1874519"/>
            <a:ext cx="2145182" cy="96012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49409" y="1920240"/>
            <a:ext cx="214518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8A951"/>
                </a:solidFill>
              </a:rPr>
              <a:t>4 × 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9409" y="2423160"/>
            <a:ext cx="214518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0E6F0"/>
                </a:solidFill>
              </a:rPr>
              <a:t>Cohort Model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999232"/>
            <a:ext cx="2126894" cy="960120"/>
          </a:xfrm>
          <a:prstGeom prst="rect">
            <a:avLst/>
          </a:prstGeom>
          <a:solidFill>
            <a:srgbClr val="1E3A5F"/>
          </a:solidFill>
          <a:ln w="12700">
            <a:solidFill>
              <a:srgbClr val="E0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3044952"/>
            <a:ext cx="212689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0E6F0"/>
                </a:solidFill>
              </a:rPr>
              <a:t>Recruit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3401568"/>
            <a:ext cx="212689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0E6F0"/>
                </a:solidFill>
              </a:rPr>
              <a:t>0 XP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57246" y="3337560"/>
            <a:ext cx="1005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8A951"/>
                </a:solidFill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66974" y="2999232"/>
            <a:ext cx="2126894" cy="960120"/>
          </a:xfrm>
          <a:prstGeom prst="rect">
            <a:avLst/>
          </a:prstGeom>
          <a:solidFill>
            <a:srgbClr val="1E3A5F"/>
          </a:solidFill>
          <a:ln w="12700">
            <a:solidFill>
              <a:srgbClr val="E0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66974" y="3044952"/>
            <a:ext cx="212689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0E6F0"/>
                </a:solidFill>
              </a:rPr>
              <a:t>Operative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66974" y="3401568"/>
            <a:ext cx="212689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0E6F0"/>
                </a:solidFill>
              </a:rPr>
              <a:t>500 XP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21300" y="3337560"/>
            <a:ext cx="1005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8A951"/>
                </a:solidFill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31028" y="2999232"/>
            <a:ext cx="2126894" cy="960120"/>
          </a:xfrm>
          <a:prstGeom prst="rect">
            <a:avLst/>
          </a:prstGeom>
          <a:solidFill>
            <a:srgbClr val="1E3A5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31028" y="3044952"/>
            <a:ext cx="212689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E86C1"/>
                </a:solidFill>
              </a:rPr>
              <a:t>Specialist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31028" y="3401568"/>
            <a:ext cx="212689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0E6F0"/>
                </a:solidFill>
              </a:rPr>
              <a:t>2,000 XP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85355" y="3337560"/>
            <a:ext cx="1005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8A951"/>
                </a:solidFill>
              </a:rPr>
              <a:t>→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95083" y="2999232"/>
            <a:ext cx="2126894" cy="960120"/>
          </a:xfrm>
          <a:prstGeom prst="rect">
            <a:avLst/>
          </a:prstGeom>
          <a:solidFill>
            <a:srgbClr val="1E3A5F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95083" y="3044952"/>
            <a:ext cx="212689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ECC71"/>
                </a:solidFill>
              </a:rPr>
              <a:t>Architect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95083" y="3401568"/>
            <a:ext cx="212689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0E6F0"/>
                </a:solidFill>
              </a:rPr>
              <a:t>5,000 XP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49409" y="3337560"/>
            <a:ext cx="1005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8A951"/>
                </a:solidFill>
              </a:rPr>
              <a:t>→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559137" y="2999232"/>
            <a:ext cx="2126894" cy="96012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559137" y="3044952"/>
            <a:ext cx="212689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8A951"/>
                </a:solidFill>
              </a:rPr>
              <a:t>Sensei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59137" y="3401568"/>
            <a:ext cx="212689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0E6F0"/>
                </a:solidFill>
              </a:rPr>
              <a:t>10,000+ XP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4133087"/>
            <a:ext cx="366674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A951"/>
                </a:solidFill>
              </a:rPr>
              <a:t>Role Tracks (12)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4526280"/>
            <a:ext cx="36667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 DevOps  ·  DataOps  ·  SecOps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4873752"/>
            <a:ext cx="36667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 SWE / Architect  ·  NetOps  ·  SRE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5221224"/>
            <a:ext cx="36667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 ISSO  ·  ISSM  ·  CISO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5568696"/>
            <a:ext cx="36667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 PM  ·  Analyst  ·  Leadership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61104" y="4133087"/>
            <a:ext cx="366674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A951"/>
                </a:solidFill>
              </a:rPr>
              <a:t>Certification Gates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61104" y="4526280"/>
            <a:ext cx="36667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 Foundation (8 wks) — Tier 1 + role Tier 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61104" y="4873752"/>
            <a:ext cx="36667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 Practitioner (+4 wks) — design score ≥80 + GameDay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61104" y="5221224"/>
            <a:ext cx="36667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 Expert (Capstone) — top-50% GameDay finish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61104" y="5568696"/>
            <a:ext cx="36667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 Auto-currency: Genesis daemon updates curriculum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19288" y="4133087"/>
            <a:ext cx="366674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A951"/>
                </a:solidFill>
              </a:rPr>
              <a:t>Developer Outcomes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19288" y="4526280"/>
            <a:ext cx="36667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 Day 1: deploys first LLM feature via ICDEV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19288" y="4873752"/>
            <a:ext cx="36667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 Week 4: designs multi-agent system on AADC canvas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19288" y="5221224"/>
            <a:ext cx="36667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 Week 8: Foundation-certified, Kanban-ready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19288" y="5568696"/>
            <a:ext cx="36667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 Week 12+: mentors next cohort (Sensei path)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31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8A951"/>
                </a:solidFill>
              </a:rPr>
              <a:t>AI GameDay — Skills Tested Under Fire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417320"/>
            <a:ext cx="11183112" cy="36576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08760"/>
            <a:ext cx="111831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E6F0"/>
                </a:solidFill>
              </a:rPr>
              <a:t>Live, AI-scored wargame. Four teams. Five injects. One After-Action Report.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65392"/>
            <a:ext cx="10634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3A5F"/>
                </a:solidFill>
              </a:rPr>
              <a:t>ICDEV™  ·  A System That Builds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7432" y="656539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1E3A5F"/>
                </a:solidFill>
              </a:rPr>
              <a:t>12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874519"/>
            <a:ext cx="2727198" cy="1691640"/>
          </a:xfrm>
          <a:prstGeom prst="rect">
            <a:avLst/>
          </a:prstGeom>
          <a:solidFill>
            <a:srgbClr val="1E3A5F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072" y="1965959"/>
            <a:ext cx="258089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E74C3C"/>
                </a:solidFill>
              </a:rPr>
              <a:t>RED
THREAT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496311"/>
            <a:ext cx="2580894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0E6F0"/>
                </a:solidFill>
              </a:rPr>
              <a:t>Attack design
Threat emulation
Exploit engineering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21558" y="1874519"/>
            <a:ext cx="2727198" cy="1691640"/>
          </a:xfrm>
          <a:prstGeom prst="rect">
            <a:avLst/>
          </a:prstGeom>
          <a:solidFill>
            <a:srgbClr val="1E3A5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94710" y="1965959"/>
            <a:ext cx="258089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86C1"/>
                </a:solidFill>
              </a:rPr>
              <a:t>BLUE
DEFENSE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94710" y="2496311"/>
            <a:ext cx="2580894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0E6F0"/>
                </a:solidFill>
              </a:rPr>
              <a:t>Incident response
Defense posture
Containment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40196" y="1874519"/>
            <a:ext cx="2727198" cy="169164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3348" y="1965959"/>
            <a:ext cx="258089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8A951"/>
                </a:solidFill>
              </a:rPr>
              <a:t>GOLD
INNOVATION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3348" y="2496311"/>
            <a:ext cx="2580894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0E6F0"/>
                </a:solidFill>
              </a:rPr>
              <a:t>Novel AI modules
Training pair generation
ML sprint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58834" y="1874519"/>
            <a:ext cx="2727198" cy="1691640"/>
          </a:xfrm>
          <a:prstGeom prst="rect">
            <a:avLst/>
          </a:prstGeom>
          <a:solidFill>
            <a:srgbClr val="1E3A5F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31986" y="1965959"/>
            <a:ext cx="258089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CC71"/>
                </a:solidFill>
              </a:rPr>
              <a:t>GREEN
COMPLIANCE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31986" y="2496311"/>
            <a:ext cx="2580894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0E6F0"/>
                </a:solidFill>
              </a:rPr>
              <a:t>NIST verdicts
Ethics assessment
Policy guidance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721608"/>
            <a:ext cx="111831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A951"/>
                </a:solidFill>
              </a:rPr>
              <a:t>Operation CIPHER FORGE — Five Injects (4-Hour Event)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160520"/>
            <a:ext cx="2181758" cy="1261872"/>
          </a:xfrm>
          <a:prstGeom prst="rect">
            <a:avLst/>
          </a:prstGeom>
          <a:solidFill>
            <a:srgbClr val="1E3A5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6072" y="4224528"/>
            <a:ext cx="203545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86C1"/>
                </a:solidFill>
              </a:rPr>
              <a:t>Signal
Cluster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72" y="4608576"/>
            <a:ext cx="203545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8A951"/>
                </a:solidFill>
              </a:rPr>
              <a:t>15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072" y="4873752"/>
            <a:ext cx="203545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0E6F0"/>
                </a:solidFill>
              </a:rPr>
              <a:t>SIGINT threat
assessment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39542" y="4160520"/>
            <a:ext cx="2181758" cy="1261872"/>
          </a:xfrm>
          <a:prstGeom prst="rect">
            <a:avLst/>
          </a:prstGeom>
          <a:solidFill>
            <a:srgbClr val="1E3A5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12694" y="4224528"/>
            <a:ext cx="203545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86C1"/>
                </a:solidFill>
              </a:rPr>
              <a:t>COA
Posture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12694" y="4608576"/>
            <a:ext cx="203545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8A951"/>
                </a:solidFill>
              </a:rPr>
              <a:t>40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12694" y="4873752"/>
            <a:ext cx="203545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0E6F0"/>
                </a:solidFill>
              </a:rPr>
              <a:t>Force posture
recommendation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76164" y="4160520"/>
            <a:ext cx="2181758" cy="1261872"/>
          </a:xfrm>
          <a:prstGeom prst="rect">
            <a:avLst/>
          </a:prstGeom>
          <a:solidFill>
            <a:srgbClr val="1E3A5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9316" y="4224528"/>
            <a:ext cx="203545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86C1"/>
                </a:solidFill>
              </a:rPr>
              <a:t>Ransomware
Cascade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49316" y="4608576"/>
            <a:ext cx="203545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8A951"/>
                </a:solidFill>
              </a:rPr>
              <a:t>Seq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9316" y="4873752"/>
            <a:ext cx="203545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0E6F0"/>
                </a:solidFill>
              </a:rPr>
              <a:t>Contain, eradicate,
recover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12787" y="4160520"/>
            <a:ext cx="2181758" cy="1261872"/>
          </a:xfrm>
          <a:prstGeom prst="rect">
            <a:avLst/>
          </a:prstGeom>
          <a:solidFill>
            <a:srgbClr val="1E3A5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85939" y="4224528"/>
            <a:ext cx="203545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86C1"/>
                </a:solidFill>
              </a:rPr>
              <a:t>Fine-Tune
Sprint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5939" y="4608576"/>
            <a:ext cx="203545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8A951"/>
                </a:solidFill>
              </a:rPr>
              <a:t>Seq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85939" y="4873752"/>
            <a:ext cx="203545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0E6F0"/>
                </a:solidFill>
              </a:rPr>
              <a:t>Generate + evaluate
ML training pairs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449409" y="4160520"/>
            <a:ext cx="2181758" cy="1261872"/>
          </a:xfrm>
          <a:prstGeom prst="rect">
            <a:avLst/>
          </a:prstGeom>
          <a:solidFill>
            <a:srgbClr val="1E3A5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22561" y="4224528"/>
            <a:ext cx="203545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86C1"/>
                </a:solidFill>
              </a:rPr>
              <a:t>War Council
Brief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22561" y="4608576"/>
            <a:ext cx="203545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8A951"/>
                </a:solidFill>
              </a:rPr>
              <a:t>Final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22561" y="4873752"/>
            <a:ext cx="203545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0E6F0"/>
                </a:solidFill>
              </a:rPr>
              <a:t>Executive synthesis
of all learnings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5559552"/>
            <a:ext cx="11183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0E6F0"/>
                </a:solidFill>
              </a:rPr>
              <a:t>Scoring: Adversarial 40%  ·  Innovation 25%  ·  Compliance 20%  ·  Training Pairs 15%  ·  AI-judged  ·  Server-verified receipts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5870448"/>
            <a:ext cx="111831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3A5F"/>
                </a:solidFill>
              </a:rPr>
              <a:t>Output: Auto-generated AAR  ·  Live leaderboard  ·  Fine-tune pairs feed directly into model improvement  ·  Required for Practitioner cert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31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8A951"/>
                </a:solidFill>
              </a:rPr>
              <a:t>Every Program Makes the Next One Faster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417320"/>
            <a:ext cx="11183112" cy="36576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08760"/>
            <a:ext cx="111831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E6F0"/>
                </a:solidFill>
              </a:rPr>
              <a:t>ICDEV™ generates living systems — they inherit the full platform and improve the shared knowledge base.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65392"/>
            <a:ext cx="10634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3A5F"/>
                </a:solidFill>
              </a:rPr>
              <a:t>ICDEV™  ·  A System That Builds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7432" y="656539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1E3A5F"/>
                </a:solidFill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74519"/>
            <a:ext cx="111831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8A951"/>
                </a:solidFill>
              </a:rPr>
              <a:t>Programs built with ICDEV™ are not finished products. They are living systems.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560320"/>
            <a:ext cx="5545836" cy="146304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2651760"/>
            <a:ext cx="53263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A951"/>
                </a:solidFill>
              </a:rPr>
              <a:t>Generated systems inherit the full platform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3063240"/>
            <a:ext cx="53263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Every app ICDEV builds gets its own FORGE framework, agent architecture, memory system, CI/CD, and canvas suite. They can build their own next features using the same ANVIL workflow that built them.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40196" y="2560320"/>
            <a:ext cx="5545836" cy="1463040"/>
          </a:xfrm>
          <a:prstGeom prst="rect">
            <a:avLst/>
          </a:prstGeom>
          <a:solidFill>
            <a:srgbClr val="1E3A5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49924" y="2651760"/>
            <a:ext cx="53263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86C1"/>
                </a:solidFill>
              </a:rPr>
              <a:t>Knowledge compounds across programs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9924" y="3063240"/>
            <a:ext cx="53263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Every build adds to the shared knowledge graph. Patterns discovered in Program A are automatically surfaced when Program B starts the same task. Genesis daemon promotes proven patterns into new Academy missions.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160520"/>
            <a:ext cx="5545836" cy="1463040"/>
          </a:xfrm>
          <a:prstGeom prst="rect">
            <a:avLst/>
          </a:prstGeom>
          <a:solidFill>
            <a:srgbClr val="1E3A5F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" y="4251960"/>
            <a:ext cx="53263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CC71"/>
                </a:solidFill>
              </a:rPr>
              <a:t>Teams get faster, not slower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" y="4663440"/>
            <a:ext cx="53263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Each cohort of 25 developers who complete FORGE Academy become internal Senseis who train the next cohort. By Year 2, your AI Lab runs itself.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40196" y="4160520"/>
            <a:ext cx="5545836" cy="1463040"/>
          </a:xfrm>
          <a:prstGeom prst="rect">
            <a:avLst/>
          </a:prstGeom>
          <a:solidFill>
            <a:srgbClr val="1E3A5F"/>
          </a:solidFill>
          <a:ln w="12700">
            <a:solidFill>
              <a:srgbClr val="17A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49924" y="4251960"/>
            <a:ext cx="53263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7A58A"/>
                </a:solidFill>
              </a:rPr>
              <a:t>Compliance artifacts accumulate, not repeat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49924" y="4663440"/>
            <a:ext cx="53263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Control evidence generated in Program A is reused by Program B. The crosswalk engine means you never map the same control twice. ATO becomes a natural output — developers don’t even think about 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897880"/>
            <a:ext cx="111831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8A951"/>
                </a:solidFill>
              </a:rPr>
              <a:t>Year 1: stand up the lab.  Year 2: every program team is self-sufficient.  Year 3: your organization is the AI center of excellence.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31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8A951"/>
                </a:solidFill>
              </a:rPr>
              <a:t>Build Alone vs. Build With ICDEV™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417320"/>
            <a:ext cx="11183112" cy="36576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08760"/>
            <a:ext cx="111831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E6F0"/>
                </a:solidFill>
              </a:rPr>
              <a:t>The question is not whether to build — it’s whether to build with a platform or without 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65392"/>
            <a:ext cx="10634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3A5F"/>
                </a:solidFill>
              </a:rPr>
              <a:t>ICDEV™  ·  A System That Builds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7432" y="656539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1E3A5F"/>
                </a:solidFill>
              </a:rPr>
              <a:t>14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874519"/>
            <a:ext cx="2176272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11095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A951"/>
                </a:solidFill>
              </a:rPr>
              <a:t>Dimension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2697480" y="1874519"/>
            <a:ext cx="4233672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88920" y="1911095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A951"/>
                </a:solidFill>
              </a:rPr>
              <a:t>Building Without ICDEV™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49440" y="1874519"/>
            <a:ext cx="4233672" cy="384048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0" y="1911095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A951"/>
                </a:solidFill>
              </a:rPr>
              <a:t>Building With ICDEV™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267711"/>
            <a:ext cx="2176272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304287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Setup time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97480" y="2267711"/>
            <a:ext cx="4233672" cy="38404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2304287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Weeks of scaffolding before first feature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49440" y="2267711"/>
            <a:ext cx="4233672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0" y="2304287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First feature on Day 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660903"/>
            <a:ext cx="2176272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697479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Design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97480" y="2660903"/>
            <a:ext cx="4233672" cy="38404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88920" y="269747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Whiteboard → doc → ticket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49440" y="2660903"/>
            <a:ext cx="4233672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0880" y="269747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Canvas → simulate → execute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3054095"/>
            <a:ext cx="2176272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3090671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AI capability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97480" y="3054095"/>
            <a:ext cx="4233672" cy="38404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88920" y="3090671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Build LLM wrappers from scratch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49440" y="3054095"/>
            <a:ext cx="4233672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0880" y="3090671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12 canvases + 15 agents ready to go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3447287"/>
            <a:ext cx="2176272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3483863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Simulation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697480" y="3447287"/>
            <a:ext cx="4233672" cy="38404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88920" y="3483863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Spreadsheet estimates, best guesses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949440" y="3447287"/>
            <a:ext cx="4233672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040880" y="3483863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Digital Twin: 6 dims, 3 COAs, Monte Carlo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3840479"/>
            <a:ext cx="2176272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3877055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Multi-cloud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697480" y="3840479"/>
            <a:ext cx="4233672" cy="38404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788920" y="3877055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Re-learn each CSP per program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949440" y="3840479"/>
            <a:ext cx="4233672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40880" y="3877055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6 CSPs, IaC generation, equivalence maps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4233671"/>
            <a:ext cx="2176272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94360" y="4270247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Legacy modernization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697480" y="4233671"/>
            <a:ext cx="4233672" cy="38404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88920" y="4270247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Greenfield rebuild or nothing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949440" y="4233671"/>
            <a:ext cx="4233672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040880" y="4270247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7Rs assessment + migration canvas + ATO bridge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4626863"/>
            <a:ext cx="2176272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94360" y="4663439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Developer growth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697480" y="4626863"/>
            <a:ext cx="4233672" cy="38404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88920" y="466343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Ad hoc, on-the-job, expensive training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949440" y="4626863"/>
            <a:ext cx="4233672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40880" y="466343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FORGE Academy: 12 roles, certified in 8 weeks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5020055"/>
            <a:ext cx="2176272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94360" y="5056631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Knowledge transfer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697480" y="5020055"/>
            <a:ext cx="4233672" cy="38404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88920" y="5056631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Walks out the door when people leave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949440" y="5020055"/>
            <a:ext cx="4233672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040880" y="5056631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Knowledge graph + Genesis daemon: never lost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2920" y="5413247"/>
            <a:ext cx="2176272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94360" y="5449823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Compliance artifacts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697480" y="5413247"/>
            <a:ext cx="4233672" cy="38404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788920" y="5449823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Manual, post-hoc, months of ISSO time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949440" y="5413247"/>
            <a:ext cx="4233672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040880" y="5449823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Generated automatically — a byproduct of building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920" y="6016752"/>
            <a:ext cx="111831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C8A951"/>
                </a:solidFill>
              </a:rPr>
              <a:t>Compliance and ATO in the last row — because with ICDEV™, developers never have to think about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31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8A951"/>
                </a:solidFill>
              </a:rPr>
              <a:t>The AI Lab — What You’re Standing Up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417320"/>
            <a:ext cx="11183112" cy="36576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08760"/>
            <a:ext cx="111831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E6F0"/>
                </a:solidFill>
              </a:rPr>
              <a:t>A self-improving developer platform that trains your people and accelerates every program.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65392"/>
            <a:ext cx="10634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3A5F"/>
                </a:solidFill>
              </a:rPr>
              <a:t>ICDEV™  ·  A System That Builds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7432" y="656539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1E3A5F"/>
                </a:solidFill>
              </a:rPr>
              <a:t>15</a:t>
            </a:r>
          </a:p>
        </p:txBody>
      </p:sp>
      <p:sp>
        <p:nvSpPr>
          <p:cNvPr id="7" name="Rectangle 6"/>
          <p:cNvSpPr/>
          <p:nvPr/>
        </p:nvSpPr>
        <p:spPr>
          <a:xfrm>
            <a:off x="4265676" y="2194560"/>
            <a:ext cx="3657600" cy="141732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02836" y="2304288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8A951"/>
                </a:solidFill>
              </a:rPr>
              <a:t>ICDEV™ 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02836" y="2779776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0E6F0"/>
                </a:solidFill>
              </a:rPr>
              <a:t>12 Canvases  ·  15 Agents  ·  FORGE + ANVIL
Digital Twin  ·  Chat + Use Cases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011680"/>
            <a:ext cx="3017520" cy="1417320"/>
          </a:xfrm>
          <a:prstGeom prst="rect">
            <a:avLst/>
          </a:prstGeom>
          <a:solidFill>
            <a:srgbClr val="1E3A5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103120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86C1"/>
                </a:solidFill>
              </a:rPr>
              <a:t>FORGE Academy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514600"/>
            <a:ext cx="2834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12 roles, 75 missions
4 cohorts × 25 devs, 8 wks
Certified AI workforce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8728" y="25146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8A951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931920"/>
            <a:ext cx="3017520" cy="1417320"/>
          </a:xfrm>
          <a:prstGeom prst="rect">
            <a:avLst/>
          </a:prstGeom>
          <a:solidFill>
            <a:srgbClr val="1E3A5F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023360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CC71"/>
                </a:solidFill>
              </a:rPr>
              <a:t>AI GameDay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434840"/>
            <a:ext cx="2834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4 teams, 5 injects
Quarterly wargames
AAR + certification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38728" y="44348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8A951"/>
                </a:solidFill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77072" y="2011680"/>
            <a:ext cx="3017520" cy="141732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68512" y="2103120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A951"/>
                </a:solidFill>
              </a:rPr>
              <a:t>Cloud Lab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68512" y="2514600"/>
            <a:ext cx="2834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AWS GovCloud / Azure Gov
K8s, 15 agents live
IL4+ environment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9872" y="25146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8A951"/>
                </a:solidFill>
              </a:rPr>
              <a:t>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77072" y="3931920"/>
            <a:ext cx="3017520" cy="1417320"/>
          </a:xfrm>
          <a:prstGeom prst="rect">
            <a:avLst/>
          </a:prstGeom>
          <a:solidFill>
            <a:srgbClr val="1E3A5F"/>
          </a:solidFill>
          <a:ln w="12700">
            <a:solidFill>
              <a:srgbClr val="17A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68512" y="4023360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7A58A"/>
                </a:solidFill>
              </a:rPr>
              <a:t>100+ Developers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68512" y="4434840"/>
            <a:ext cx="2834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AI-trained, certified
Sensei bench by Month 8
Self-sustaining by Year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44348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8A951"/>
                </a:solidFill>
              </a:rPr>
              <a:t>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596128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0E6F0"/>
                </a:solidFill>
              </a:rPr>
              <a:t>Every program powered by ICDEV™ trains your team, improves the knowledge base, and generates its own compliance artifacts — compounding returns across the enterprise.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31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8A951"/>
                </a:solidFill>
              </a:rPr>
              <a:t>What We’re Asking For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417320"/>
            <a:ext cx="11183112" cy="36576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08760"/>
            <a:ext cx="111831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E6F0"/>
                </a:solidFill>
              </a:rPr>
              <a:t>Three approvals. One platform. Returns from Day 90.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65392"/>
            <a:ext cx="10634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3A5F"/>
                </a:solidFill>
              </a:rPr>
              <a:t>ICDEV™  ·  A System That Builds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7432" y="656539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1E3A5F"/>
                </a:solidFill>
              </a:rPr>
              <a:t>16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874519"/>
            <a:ext cx="11183112" cy="1371600"/>
          </a:xfrm>
          <a:prstGeom prst="rect">
            <a:avLst/>
          </a:prstGeom>
          <a:solidFill>
            <a:srgbClr val="1E3A5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65959"/>
            <a:ext cx="109087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86C1"/>
                </a:solidFill>
              </a:rPr>
              <a:t>1.  Infrastructure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86583"/>
            <a:ext cx="10908792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0E6F0"/>
                </a:solidFill>
              </a:rPr>
              <a:t>2-node Kubernetes cluster  ·  64 vCPU, 256 GB RAM, 10 TB NVMe
AWS Bedrock (Claude) or Azure OpenAI Gov access (IL4+)
GitLab EE + isolated lab VLAN + CAC auth
Timeline: 30-day procurement  ·  Budget: $150K–$300K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355847"/>
            <a:ext cx="11183112" cy="1371600"/>
          </a:xfrm>
          <a:prstGeom prst="rect">
            <a:avLst/>
          </a:prstGeom>
          <a:solidFill>
            <a:srgbClr val="1E3A5F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447287"/>
            <a:ext cx="109087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CC71"/>
                </a:solidFill>
              </a:rPr>
              <a:t>2.  Personnel (4 FTEs)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67911"/>
            <a:ext cx="10908792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0E6F0"/>
                </a:solidFill>
              </a:rPr>
              <a:t>AI Lab Director — strategy, stakeholder liaison, program integration
Platform / MLOps Engineer — ICDEV deployment, agent health, LLM integration
Training Lead — Academy curriculum, cohort scheduling, GameDay facilitation
ISSO — lab authorization, audit trail review, POA&amp;M management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837175"/>
            <a:ext cx="11183112" cy="137160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928615"/>
            <a:ext cx="109087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A951"/>
                </a:solidFill>
              </a:rPr>
              <a:t>3.  Budget Authority (Year 1)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349239"/>
            <a:ext cx="10908792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0E6F0"/>
                </a:solidFill>
              </a:rPr>
              <a:t>Infrastructure (cloud + K8s): $150K–$300K
Personnel (4 FTEs): $300K–$400K
Academy (4 cohorts × 25 devs) + GameDay (4 events): $120K–$160K
ICDEV™ platform: $0 (Apache 2.0 open source)
Total: $570K–$860K  against a Year-1 return of $4M–$6M+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31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8A951"/>
                </a:solidFill>
              </a:rPr>
              <a:t>Why Now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417320"/>
            <a:ext cx="11183112" cy="36576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08760"/>
            <a:ext cx="111831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E6F0"/>
                </a:solidFill>
              </a:rPr>
              <a:t>The mandate to build AI-capable government software teams has arrived.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65392"/>
            <a:ext cx="10634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3A5F"/>
                </a:solidFill>
              </a:rPr>
              <a:t>ICDEV™  ·  A System That Builds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7432" y="656539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1E3A5F"/>
                </a:solidFill>
              </a:rPr>
              <a:t>17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874519"/>
            <a:ext cx="5545836" cy="178308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965959"/>
            <a:ext cx="53263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A951"/>
                </a:solidFill>
              </a:rPr>
              <a:t>OMB M-25-21 + M-26-04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2386583"/>
            <a:ext cx="53263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0E6F0"/>
                </a:solidFill>
              </a:rPr>
              <a:t>Federal agencies must demonstrate responsible, unbiased, transparent AI. ICDEV™ generates model cards, system cards, fairness assessments, and AI inventory automatically — as a byproduct of building.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40196" y="1874519"/>
            <a:ext cx="5545836" cy="1783080"/>
          </a:xfrm>
          <a:prstGeom prst="rect">
            <a:avLst/>
          </a:prstGeom>
          <a:solidFill>
            <a:srgbClr val="1E3A5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49924" y="1965959"/>
            <a:ext cx="53263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86C1"/>
                </a:solidFill>
              </a:rPr>
              <a:t>DoD AI Workforce Strategy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49924" y="2386583"/>
            <a:ext cx="53263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0E6F0"/>
                </a:solidFill>
              </a:rPr>
              <a:t>DoD requires AI literacy across all personnel grades with NICE KSA alignment. FORGE Academy is already crosswalked to the DoD AI Workforce Framework. Every mission maps to a KSA.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794759"/>
            <a:ext cx="5545836" cy="1783080"/>
          </a:xfrm>
          <a:prstGeom prst="rect">
            <a:avLst/>
          </a:prstGeom>
          <a:solidFill>
            <a:srgbClr val="1E3A5F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3886199"/>
            <a:ext cx="53263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CC71"/>
                </a:solidFill>
              </a:rPr>
              <a:t>The Competitive Window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4306823"/>
            <a:ext cx="53263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0E6F0"/>
                </a:solidFill>
              </a:rPr>
              <a:t>Organizations that build AI-native developer platforms now will have a 3–5 year head start over those that wait. The tools exist. The talent can be trained. The only question is whether you move first.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40196" y="3794759"/>
            <a:ext cx="5545836" cy="1783080"/>
          </a:xfrm>
          <a:prstGeom prst="rect">
            <a:avLst/>
          </a:prstGeom>
          <a:solidFill>
            <a:srgbClr val="1E3A5F"/>
          </a:solidFill>
          <a:ln w="12700">
            <a:solidFill>
              <a:srgbClr val="17A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49924" y="3886199"/>
            <a:ext cx="53263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7A58A"/>
                </a:solidFill>
              </a:rPr>
              <a:t>The Cost of Waiting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9924" y="4306823"/>
            <a:ext cx="53263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0E6F0"/>
                </a:solidFill>
              </a:rPr>
              <a:t>Every month without a platform is another month of developers re-inventing scaffolding, re-learning compliance, and re-training from scratch. The opportunity cost compounds just as fast as the returns would.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806440"/>
            <a:ext cx="111831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8A951"/>
                </a:solidFill>
              </a:rPr>
              <a:t>ICDEV™ is already mapped to every current federal AI mandate. Your organization doesn’t have to figure it out — we already did.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565392"/>
            <a:ext cx="10634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3A5F"/>
                </a:solidFill>
              </a:rPr>
              <a:t>ICDEV™  ·  A System That Builds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57432" y="656539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1E3A5F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2860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C8A951"/>
                </a:solidFill>
              </a:rPr>
              <a:t>Next Steps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932688"/>
            <a:ext cx="11183112" cy="36576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188720"/>
            <a:ext cx="11183112" cy="141732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80160"/>
            <a:ext cx="1325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A951"/>
                </a:solidFill>
              </a:rPr>
              <a:t>Day 1–30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1280160"/>
            <a:ext cx="9537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Approve AI Lab stand-up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00784"/>
            <a:ext cx="10908792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0E6F0"/>
                </a:solidFill>
              </a:rPr>
              <a:t>Authorize infrastructure procurement. Designate AI Lab Director and ISSO. Begin FY procurement action. ICDEV™ deployed and health-checked by Day 30.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724912"/>
            <a:ext cx="11183112" cy="141732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816352"/>
            <a:ext cx="1325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A951"/>
                </a:solidFill>
              </a:rPr>
              <a:t>Day 31–60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2816352"/>
            <a:ext cx="9537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Onboard first program team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236976"/>
            <a:ext cx="10908792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0E6F0"/>
                </a:solidFill>
              </a:rPr>
              <a:t>First team onboarded to canvases. RICOAS intake session run. Digital Twin simulation executed. First set of compliance artifacts generated automatically — without anyone asking for them.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4261104"/>
            <a:ext cx="11183112" cy="141732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352544"/>
            <a:ext cx="1325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A951"/>
                </a:solidFill>
              </a:rPr>
              <a:t>Day 61–90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4352544"/>
            <a:ext cx="9537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Launch Academy Cohort 1 + GameDay #1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773168"/>
            <a:ext cx="10908792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0E6F0"/>
                </a:solidFill>
              </a:rPr>
              <a:t>25 developers begin 8-week FORGE Academy track. AI GameDay #1 executed with 4 teams. AAR published. Lessons learned fed back into Academy curriculum automatically.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779008"/>
            <a:ext cx="11183112" cy="475488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824728"/>
            <a:ext cx="109087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8A951"/>
                </a:solidFill>
              </a:rPr>
              <a:t>One platform.  Every program.  Starting Day 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